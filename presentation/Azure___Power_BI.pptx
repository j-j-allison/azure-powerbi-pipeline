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roxima Nova Bold" charset="1" panose="02000506030000020004"/>
      <p:regular r:id="rId11"/>
    </p:embeddedFont>
    <p:embeddedFont>
      <p:font typeface="Proxima Nova" charset="1" panose="02000506030000020004"/>
      <p:regular r:id="rId12"/>
    </p:embeddedFont>
    <p:embeddedFont>
      <p:font typeface="Calibri (MS)" charset="1" panose="020F0502020204030204"/>
      <p:regular r:id="rId13"/>
    </p:embeddedFont>
    <p:embeddedFont>
      <p:font typeface="Calibri (MS) Italics" charset="1" panose="020F05020202040A0204"/>
      <p:regular r:id="rId14"/>
    </p:embeddedFont>
    <p:embeddedFont>
      <p:font typeface="Calibri (MS) Bold" charset="1" panose="020F07020304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jpe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jpeg" Type="http://schemas.openxmlformats.org/officeDocument/2006/relationships/image"/><Relationship Id="rId11" Target="../media/image25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96961">
            <a:off x="-1432340" y="6872827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01367">
            <a:off x="714950" y="8429479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1"/>
                </a:lnTo>
                <a:lnTo>
                  <a:pt x="0" y="4816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23381">
            <a:off x="15383533" y="-370895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95011">
            <a:off x="13558858" y="-1158072"/>
            <a:ext cx="2921537" cy="3881268"/>
          </a:xfrm>
          <a:custGeom>
            <a:avLst/>
            <a:gdLst/>
            <a:ahLst/>
            <a:cxnLst/>
            <a:rect r="r" b="b" t="t" l="l"/>
            <a:pathLst>
              <a:path h="3881268" w="2921537">
                <a:moveTo>
                  <a:pt x="0" y="0"/>
                </a:moveTo>
                <a:lnTo>
                  <a:pt x="2921536" y="0"/>
                </a:lnTo>
                <a:lnTo>
                  <a:pt x="2921536" y="3881269"/>
                </a:lnTo>
                <a:lnTo>
                  <a:pt x="0" y="38812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960663"/>
            <a:ext cx="462452" cy="424180"/>
          </a:xfrm>
          <a:custGeom>
            <a:avLst/>
            <a:gdLst/>
            <a:ahLst/>
            <a:cxnLst/>
            <a:rect r="r" b="b" t="t" l="l"/>
            <a:pathLst>
              <a:path h="424180" w="462452">
                <a:moveTo>
                  <a:pt x="0" y="0"/>
                </a:moveTo>
                <a:lnTo>
                  <a:pt x="462452" y="0"/>
                </a:lnTo>
                <a:lnTo>
                  <a:pt x="462452" y="424180"/>
                </a:lnTo>
                <a:lnTo>
                  <a:pt x="0" y="4241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8393" t="-26863" r="-195829" b="-11829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752646"/>
            <a:ext cx="16344900" cy="122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b="true" sz="9200" spc="92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AZURE &amp; POWER BI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5051" y="2903513"/>
            <a:ext cx="636260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Université Paris 1 Panthéon-Sorbonne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1244" y="9662239"/>
            <a:ext cx="10045431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32">
                <a:solidFill>
                  <a:srgbClr val="0086B3"/>
                </a:solidFill>
                <a:latin typeface="Proxima Nova"/>
                <a:ea typeface="Proxima Nova"/>
                <a:cs typeface="Proxima Nova"/>
                <a:sym typeface="Proxima Nova"/>
              </a:rPr>
              <a:t>ALLISON Jacques, MEGARD Alexandre, NADAT Sufyan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96961">
            <a:off x="-1406027" y="6806086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59" y="0"/>
                </a:lnTo>
                <a:lnTo>
                  <a:pt x="4389359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01367">
            <a:off x="557077" y="8324231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0"/>
                </a:lnTo>
                <a:lnTo>
                  <a:pt x="0" y="4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23381">
            <a:off x="15488782" y="-65147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95011">
            <a:off x="13614410" y="-1236110"/>
            <a:ext cx="2725288" cy="3620552"/>
          </a:xfrm>
          <a:custGeom>
            <a:avLst/>
            <a:gdLst/>
            <a:ahLst/>
            <a:cxnLst/>
            <a:rect r="r" b="b" t="t" l="l"/>
            <a:pathLst>
              <a:path h="3620552" w="2725288">
                <a:moveTo>
                  <a:pt x="0" y="0"/>
                </a:moveTo>
                <a:lnTo>
                  <a:pt x="2725289" y="0"/>
                </a:lnTo>
                <a:lnTo>
                  <a:pt x="2725289" y="3620552"/>
                </a:lnTo>
                <a:lnTo>
                  <a:pt x="0" y="3620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3373" y="1518473"/>
            <a:ext cx="601704" cy="601704"/>
          </a:xfrm>
          <a:custGeom>
            <a:avLst/>
            <a:gdLst/>
            <a:ahLst/>
            <a:cxnLst/>
            <a:rect r="r" b="b" t="t" l="l"/>
            <a:pathLst>
              <a:path h="601704" w="601704">
                <a:moveTo>
                  <a:pt x="0" y="0"/>
                </a:moveTo>
                <a:lnTo>
                  <a:pt x="601705" y="0"/>
                </a:lnTo>
                <a:lnTo>
                  <a:pt x="601705" y="601704"/>
                </a:lnTo>
                <a:lnTo>
                  <a:pt x="0" y="601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3373" y="3501302"/>
            <a:ext cx="601704" cy="601704"/>
          </a:xfrm>
          <a:custGeom>
            <a:avLst/>
            <a:gdLst/>
            <a:ahLst/>
            <a:cxnLst/>
            <a:rect r="r" b="b" t="t" l="l"/>
            <a:pathLst>
              <a:path h="601704" w="601704">
                <a:moveTo>
                  <a:pt x="0" y="0"/>
                </a:moveTo>
                <a:lnTo>
                  <a:pt x="601705" y="0"/>
                </a:lnTo>
                <a:lnTo>
                  <a:pt x="601705" y="601704"/>
                </a:lnTo>
                <a:lnTo>
                  <a:pt x="0" y="601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3373" y="5483064"/>
            <a:ext cx="601704" cy="601704"/>
          </a:xfrm>
          <a:custGeom>
            <a:avLst/>
            <a:gdLst/>
            <a:ahLst/>
            <a:cxnLst/>
            <a:rect r="r" b="b" t="t" l="l"/>
            <a:pathLst>
              <a:path h="601704" w="601704">
                <a:moveTo>
                  <a:pt x="0" y="0"/>
                </a:moveTo>
                <a:lnTo>
                  <a:pt x="601705" y="0"/>
                </a:lnTo>
                <a:lnTo>
                  <a:pt x="601705" y="601704"/>
                </a:lnTo>
                <a:lnTo>
                  <a:pt x="0" y="601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60803" y="5588653"/>
            <a:ext cx="3569549" cy="1222571"/>
          </a:xfrm>
          <a:custGeom>
            <a:avLst/>
            <a:gdLst/>
            <a:ahLst/>
            <a:cxnLst/>
            <a:rect r="r" b="b" t="t" l="l"/>
            <a:pathLst>
              <a:path h="1222571" w="3569549">
                <a:moveTo>
                  <a:pt x="0" y="0"/>
                </a:moveTo>
                <a:lnTo>
                  <a:pt x="3569549" y="0"/>
                </a:lnTo>
                <a:lnTo>
                  <a:pt x="3569549" y="1222571"/>
                </a:lnTo>
                <a:lnTo>
                  <a:pt x="0" y="1222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02292" y="5555504"/>
            <a:ext cx="3133364" cy="1288869"/>
          </a:xfrm>
          <a:custGeom>
            <a:avLst/>
            <a:gdLst/>
            <a:ahLst/>
            <a:cxnLst/>
            <a:rect r="r" b="b" t="t" l="l"/>
            <a:pathLst>
              <a:path h="1288869" w="3133364">
                <a:moveTo>
                  <a:pt x="0" y="0"/>
                </a:moveTo>
                <a:lnTo>
                  <a:pt x="3133364" y="0"/>
                </a:lnTo>
                <a:lnTo>
                  <a:pt x="3133364" y="1288869"/>
                </a:lnTo>
                <a:lnTo>
                  <a:pt x="0" y="12888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953295" y="2179727"/>
            <a:ext cx="5903841" cy="7598903"/>
            <a:chOff x="0" y="0"/>
            <a:chExt cx="1554921" cy="20013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921" cy="2001357"/>
            </a:xfrm>
            <a:custGeom>
              <a:avLst/>
              <a:gdLst/>
              <a:ahLst/>
              <a:cxnLst/>
              <a:rect r="r" b="b" t="t" l="l"/>
              <a:pathLst>
                <a:path h="2001357" w="1554921">
                  <a:moveTo>
                    <a:pt x="13113" y="0"/>
                  </a:moveTo>
                  <a:lnTo>
                    <a:pt x="1541808" y="0"/>
                  </a:lnTo>
                  <a:cubicBezTo>
                    <a:pt x="1545286" y="0"/>
                    <a:pt x="1548621" y="1382"/>
                    <a:pt x="1551080" y="3841"/>
                  </a:cubicBezTo>
                  <a:cubicBezTo>
                    <a:pt x="1553540" y="6300"/>
                    <a:pt x="1554921" y="9635"/>
                    <a:pt x="1554921" y="13113"/>
                  </a:cubicBezTo>
                  <a:lnTo>
                    <a:pt x="1554921" y="1988244"/>
                  </a:lnTo>
                  <a:cubicBezTo>
                    <a:pt x="1554921" y="1995486"/>
                    <a:pt x="1549050" y="2001357"/>
                    <a:pt x="1541808" y="2001357"/>
                  </a:cubicBezTo>
                  <a:lnTo>
                    <a:pt x="13113" y="2001357"/>
                  </a:lnTo>
                  <a:cubicBezTo>
                    <a:pt x="9635" y="2001357"/>
                    <a:pt x="6300" y="1999976"/>
                    <a:pt x="3841" y="1997516"/>
                  </a:cubicBezTo>
                  <a:cubicBezTo>
                    <a:pt x="1382" y="1995057"/>
                    <a:pt x="0" y="1991722"/>
                    <a:pt x="0" y="1988244"/>
                  </a:cubicBezTo>
                  <a:lnTo>
                    <a:pt x="0" y="13113"/>
                  </a:lnTo>
                  <a:cubicBezTo>
                    <a:pt x="0" y="5871"/>
                    <a:pt x="5871" y="0"/>
                    <a:pt x="13113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4921" cy="20394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r">
                <a:lnSpc>
                  <a:spcPts val="3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18074" y="3036851"/>
            <a:ext cx="5174284" cy="1096661"/>
            <a:chOff x="0" y="0"/>
            <a:chExt cx="1362775" cy="288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62774" cy="288832"/>
            </a:xfrm>
            <a:custGeom>
              <a:avLst/>
              <a:gdLst/>
              <a:ahLst/>
              <a:cxnLst/>
              <a:rect r="r" b="b" t="t" l="l"/>
              <a:pathLst>
                <a:path h="288832" w="1362774">
                  <a:moveTo>
                    <a:pt x="14962" y="0"/>
                  </a:moveTo>
                  <a:lnTo>
                    <a:pt x="1347812" y="0"/>
                  </a:lnTo>
                  <a:cubicBezTo>
                    <a:pt x="1356076" y="0"/>
                    <a:pt x="1362774" y="6699"/>
                    <a:pt x="1362774" y="14962"/>
                  </a:cubicBezTo>
                  <a:lnTo>
                    <a:pt x="1362774" y="273870"/>
                  </a:lnTo>
                  <a:cubicBezTo>
                    <a:pt x="1362774" y="282134"/>
                    <a:pt x="1356076" y="288832"/>
                    <a:pt x="1347812" y="288832"/>
                  </a:cubicBezTo>
                  <a:lnTo>
                    <a:pt x="14962" y="288832"/>
                  </a:lnTo>
                  <a:cubicBezTo>
                    <a:pt x="6699" y="288832"/>
                    <a:pt x="0" y="282134"/>
                    <a:pt x="0" y="273870"/>
                  </a:cubicBezTo>
                  <a:lnTo>
                    <a:pt x="0" y="14962"/>
                  </a:lnTo>
                  <a:cubicBezTo>
                    <a:pt x="0" y="6699"/>
                    <a:pt x="6699" y="0"/>
                    <a:pt x="14962" y="0"/>
                  </a:cubicBez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62775" cy="32693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22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clients.xls</a:t>
              </a:r>
            </a:p>
            <a:p>
              <a:pPr algn="ctr">
                <a:lnSpc>
                  <a:spcPts val="1820"/>
                </a:lnSpc>
              </a:pP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Données clients (segment, ville, pays)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18074" y="4352587"/>
            <a:ext cx="5174284" cy="1096661"/>
            <a:chOff x="0" y="0"/>
            <a:chExt cx="1362775" cy="2888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62774" cy="288832"/>
            </a:xfrm>
            <a:custGeom>
              <a:avLst/>
              <a:gdLst/>
              <a:ahLst/>
              <a:cxnLst/>
              <a:rect r="r" b="b" t="t" l="l"/>
              <a:pathLst>
                <a:path h="288832" w="1362774">
                  <a:moveTo>
                    <a:pt x="14962" y="0"/>
                  </a:moveTo>
                  <a:lnTo>
                    <a:pt x="1347812" y="0"/>
                  </a:lnTo>
                  <a:cubicBezTo>
                    <a:pt x="1356076" y="0"/>
                    <a:pt x="1362774" y="6699"/>
                    <a:pt x="1362774" y="14962"/>
                  </a:cubicBezTo>
                  <a:lnTo>
                    <a:pt x="1362774" y="273870"/>
                  </a:lnTo>
                  <a:cubicBezTo>
                    <a:pt x="1362774" y="282134"/>
                    <a:pt x="1356076" y="288832"/>
                    <a:pt x="1347812" y="288832"/>
                  </a:cubicBezTo>
                  <a:lnTo>
                    <a:pt x="14962" y="288832"/>
                  </a:lnTo>
                  <a:cubicBezTo>
                    <a:pt x="6699" y="288832"/>
                    <a:pt x="0" y="282134"/>
                    <a:pt x="0" y="273870"/>
                  </a:cubicBezTo>
                  <a:lnTo>
                    <a:pt x="0" y="14962"/>
                  </a:lnTo>
                  <a:cubicBezTo>
                    <a:pt x="0" y="6699"/>
                    <a:pt x="6699" y="0"/>
                    <a:pt x="14962" y="0"/>
                  </a:cubicBez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62775" cy="32693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22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agences.txt</a:t>
              </a:r>
            </a:p>
            <a:p>
              <a:pPr algn="ctr">
                <a:lnSpc>
                  <a:spcPts val="1820"/>
                </a:lnSpc>
              </a:pP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Age</a:t>
              </a: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nces &amp; localisation géographique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18074" y="5668322"/>
            <a:ext cx="5174284" cy="1096661"/>
            <a:chOff x="0" y="0"/>
            <a:chExt cx="1362775" cy="2888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62774" cy="288832"/>
            </a:xfrm>
            <a:custGeom>
              <a:avLst/>
              <a:gdLst/>
              <a:ahLst/>
              <a:cxnLst/>
              <a:rect r="r" b="b" t="t" l="l"/>
              <a:pathLst>
                <a:path h="288832" w="1362774">
                  <a:moveTo>
                    <a:pt x="14962" y="0"/>
                  </a:moveTo>
                  <a:lnTo>
                    <a:pt x="1347812" y="0"/>
                  </a:lnTo>
                  <a:cubicBezTo>
                    <a:pt x="1356076" y="0"/>
                    <a:pt x="1362774" y="6699"/>
                    <a:pt x="1362774" y="14962"/>
                  </a:cubicBezTo>
                  <a:lnTo>
                    <a:pt x="1362774" y="273870"/>
                  </a:lnTo>
                  <a:cubicBezTo>
                    <a:pt x="1362774" y="282134"/>
                    <a:pt x="1356076" y="288832"/>
                    <a:pt x="1347812" y="288832"/>
                  </a:cubicBezTo>
                  <a:lnTo>
                    <a:pt x="14962" y="288832"/>
                  </a:lnTo>
                  <a:cubicBezTo>
                    <a:pt x="6699" y="288832"/>
                    <a:pt x="0" y="282134"/>
                    <a:pt x="0" y="273870"/>
                  </a:cubicBezTo>
                  <a:lnTo>
                    <a:pt x="0" y="14962"/>
                  </a:lnTo>
                  <a:cubicBezTo>
                    <a:pt x="0" y="6699"/>
                    <a:pt x="6699" y="0"/>
                    <a:pt x="14962" y="0"/>
                  </a:cubicBez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62775" cy="32693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22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produits_bancaires.csv</a:t>
              </a:r>
            </a:p>
            <a:p>
              <a:pPr algn="ctr">
                <a:lnSpc>
                  <a:spcPts val="1820"/>
                </a:lnSpc>
              </a:pP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</a:t>
              </a: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oduits : comptes, crédits, cartes, épargne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18074" y="6984058"/>
            <a:ext cx="5174284" cy="1096661"/>
            <a:chOff x="0" y="0"/>
            <a:chExt cx="1362775" cy="2888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2774" cy="288832"/>
            </a:xfrm>
            <a:custGeom>
              <a:avLst/>
              <a:gdLst/>
              <a:ahLst/>
              <a:cxnLst/>
              <a:rect r="r" b="b" t="t" l="l"/>
              <a:pathLst>
                <a:path h="288832" w="1362774">
                  <a:moveTo>
                    <a:pt x="14962" y="0"/>
                  </a:moveTo>
                  <a:lnTo>
                    <a:pt x="1347812" y="0"/>
                  </a:lnTo>
                  <a:cubicBezTo>
                    <a:pt x="1356076" y="0"/>
                    <a:pt x="1362774" y="6699"/>
                    <a:pt x="1362774" y="14962"/>
                  </a:cubicBezTo>
                  <a:lnTo>
                    <a:pt x="1362774" y="273870"/>
                  </a:lnTo>
                  <a:cubicBezTo>
                    <a:pt x="1362774" y="282134"/>
                    <a:pt x="1356076" y="288832"/>
                    <a:pt x="1347812" y="288832"/>
                  </a:cubicBezTo>
                  <a:lnTo>
                    <a:pt x="14962" y="288832"/>
                  </a:lnTo>
                  <a:cubicBezTo>
                    <a:pt x="6699" y="288832"/>
                    <a:pt x="0" y="282134"/>
                    <a:pt x="0" y="273870"/>
                  </a:cubicBezTo>
                  <a:lnTo>
                    <a:pt x="0" y="14962"/>
                  </a:lnTo>
                  <a:cubicBezTo>
                    <a:pt x="0" y="6699"/>
                    <a:pt x="6699" y="0"/>
                    <a:pt x="14962" y="0"/>
                  </a:cubicBez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62775" cy="32693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22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transactions.csv</a:t>
              </a:r>
            </a:p>
            <a:p>
              <a:pPr algn="ctr">
                <a:lnSpc>
                  <a:spcPts val="1820"/>
                </a:lnSpc>
              </a:pP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Opérati</a:t>
              </a: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ons clients (type, montant, date)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18074" y="8301213"/>
            <a:ext cx="5174284" cy="1096661"/>
            <a:chOff x="0" y="0"/>
            <a:chExt cx="1362775" cy="2888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2774" cy="288832"/>
            </a:xfrm>
            <a:custGeom>
              <a:avLst/>
              <a:gdLst/>
              <a:ahLst/>
              <a:cxnLst/>
              <a:rect r="r" b="b" t="t" l="l"/>
              <a:pathLst>
                <a:path h="288832" w="1362774">
                  <a:moveTo>
                    <a:pt x="14962" y="0"/>
                  </a:moveTo>
                  <a:lnTo>
                    <a:pt x="1347812" y="0"/>
                  </a:lnTo>
                  <a:cubicBezTo>
                    <a:pt x="1356076" y="0"/>
                    <a:pt x="1362774" y="6699"/>
                    <a:pt x="1362774" y="14962"/>
                  </a:cubicBezTo>
                  <a:lnTo>
                    <a:pt x="1362774" y="273870"/>
                  </a:lnTo>
                  <a:cubicBezTo>
                    <a:pt x="1362774" y="282134"/>
                    <a:pt x="1356076" y="288832"/>
                    <a:pt x="1347812" y="288832"/>
                  </a:cubicBezTo>
                  <a:lnTo>
                    <a:pt x="14962" y="288832"/>
                  </a:lnTo>
                  <a:cubicBezTo>
                    <a:pt x="6699" y="288832"/>
                    <a:pt x="0" y="282134"/>
                    <a:pt x="0" y="273870"/>
                  </a:cubicBezTo>
                  <a:lnTo>
                    <a:pt x="0" y="14962"/>
                  </a:lnTo>
                  <a:cubicBezTo>
                    <a:pt x="0" y="6699"/>
                    <a:pt x="6699" y="0"/>
                    <a:pt x="14962" y="0"/>
                  </a:cubicBez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62775" cy="32693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22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depenses.csv</a:t>
              </a:r>
            </a:p>
            <a:p>
              <a:pPr algn="ctr">
                <a:lnSpc>
                  <a:spcPts val="1820"/>
                </a:lnSpc>
              </a:pP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</a:t>
              </a:r>
              <a:r>
                <a:rPr lang="en-US" b="true" sz="1300" spc="13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ype de dépenses par agences et montants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61372" y="7804522"/>
            <a:ext cx="5174284" cy="1096661"/>
            <a:chOff x="0" y="0"/>
            <a:chExt cx="1362775" cy="2888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62774" cy="288832"/>
            </a:xfrm>
            <a:custGeom>
              <a:avLst/>
              <a:gdLst/>
              <a:ahLst/>
              <a:cxnLst/>
              <a:rect r="r" b="b" t="t" l="l"/>
              <a:pathLst>
                <a:path h="288832" w="1362774">
                  <a:moveTo>
                    <a:pt x="14962" y="0"/>
                  </a:moveTo>
                  <a:lnTo>
                    <a:pt x="1347812" y="0"/>
                  </a:lnTo>
                  <a:cubicBezTo>
                    <a:pt x="1356076" y="0"/>
                    <a:pt x="1362774" y="6699"/>
                    <a:pt x="1362774" y="14962"/>
                  </a:cubicBezTo>
                  <a:lnTo>
                    <a:pt x="1362774" y="273870"/>
                  </a:lnTo>
                  <a:cubicBezTo>
                    <a:pt x="1362774" y="282134"/>
                    <a:pt x="1356076" y="288832"/>
                    <a:pt x="1347812" y="288832"/>
                  </a:cubicBezTo>
                  <a:lnTo>
                    <a:pt x="14962" y="288832"/>
                  </a:lnTo>
                  <a:cubicBezTo>
                    <a:pt x="6699" y="288832"/>
                    <a:pt x="0" y="282134"/>
                    <a:pt x="0" y="273870"/>
                  </a:cubicBezTo>
                  <a:lnTo>
                    <a:pt x="0" y="14962"/>
                  </a:lnTo>
                  <a:cubicBezTo>
                    <a:pt x="0" y="6699"/>
                    <a:pt x="6699" y="0"/>
                    <a:pt x="14962" y="0"/>
                  </a:cubicBez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62775" cy="32693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5645852" y="7941966"/>
            <a:ext cx="334742" cy="340464"/>
          </a:xfrm>
          <a:custGeom>
            <a:avLst/>
            <a:gdLst/>
            <a:ahLst/>
            <a:cxnLst/>
            <a:rect r="r" b="b" t="t" l="l"/>
            <a:pathLst>
              <a:path h="340464" w="334742">
                <a:moveTo>
                  <a:pt x="0" y="0"/>
                </a:moveTo>
                <a:lnTo>
                  <a:pt x="334743" y="0"/>
                </a:lnTo>
                <a:lnTo>
                  <a:pt x="334743" y="340465"/>
                </a:lnTo>
                <a:lnTo>
                  <a:pt x="0" y="3404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45182" t="-14916" r="-43789" b="-8869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645852" y="8417476"/>
            <a:ext cx="334742" cy="340464"/>
          </a:xfrm>
          <a:custGeom>
            <a:avLst/>
            <a:gdLst/>
            <a:ahLst/>
            <a:cxnLst/>
            <a:rect r="r" b="b" t="t" l="l"/>
            <a:pathLst>
              <a:path h="340464" w="334742">
                <a:moveTo>
                  <a:pt x="0" y="0"/>
                </a:moveTo>
                <a:lnTo>
                  <a:pt x="334743" y="0"/>
                </a:lnTo>
                <a:lnTo>
                  <a:pt x="334743" y="340465"/>
                </a:lnTo>
                <a:lnTo>
                  <a:pt x="0" y="3404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45182" t="-14916" r="-43789" b="-8869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700397" y="7758773"/>
            <a:ext cx="1188158" cy="1188158"/>
          </a:xfrm>
          <a:custGeom>
            <a:avLst/>
            <a:gdLst/>
            <a:ahLst/>
            <a:cxnLst/>
            <a:rect r="r" b="b" t="t" l="l"/>
            <a:pathLst>
              <a:path h="1188158" w="1188158">
                <a:moveTo>
                  <a:pt x="0" y="0"/>
                </a:moveTo>
                <a:lnTo>
                  <a:pt x="1188158" y="0"/>
                </a:lnTo>
                <a:lnTo>
                  <a:pt x="1188158" y="1188158"/>
                </a:lnTo>
                <a:lnTo>
                  <a:pt x="0" y="118815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70786" y="380364"/>
            <a:ext cx="12786150" cy="64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4900" spc="49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CONTEXTE ET DONNÉES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0328" y="1614537"/>
            <a:ext cx="179891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26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CONTEXTE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60803" y="1557387"/>
            <a:ext cx="8930567" cy="7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Bankia est une banque avec plusieurs agences et services bancaires variés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Besoin de centraliser et historiser les données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00328" y="3597367"/>
            <a:ext cx="179891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26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OBJECTIF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860803" y="3540217"/>
            <a:ext cx="7291837" cy="113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Mettre en place un système d’information décisionnel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Analyser la performance commerciale et financière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Fournir des indicateurs clés pour la prise de décision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0328" y="5579128"/>
            <a:ext cx="176647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26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OUTILS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53295" y="2337305"/>
            <a:ext cx="590384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b="true" sz="2899" spc="28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DONNÉES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01219" y="7941966"/>
            <a:ext cx="3894591" cy="31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b="true" sz="2154" spc="21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CLIENTS.CSV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01219" y="8416058"/>
            <a:ext cx="3894591" cy="31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b="true" sz="2154" spc="21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</a:t>
            </a:r>
            <a:r>
              <a:rPr lang="en-US" b="true" sz="2154" spc="21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ET_BANKIA2025.XLSX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201469">
            <a:off x="-1165980" y="7429873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089119">
            <a:off x="991678" y="9138498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0" y="0"/>
                </a:moveTo>
                <a:lnTo>
                  <a:pt x="3484112" y="0"/>
                </a:lnTo>
                <a:lnTo>
                  <a:pt x="3484112" y="2787289"/>
                </a:lnTo>
                <a:lnTo>
                  <a:pt x="0" y="27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964417">
            <a:off x="16068115" y="-385311"/>
            <a:ext cx="3982176" cy="4710100"/>
          </a:xfrm>
          <a:custGeom>
            <a:avLst/>
            <a:gdLst/>
            <a:ahLst/>
            <a:cxnLst/>
            <a:rect r="r" b="b" t="t" l="l"/>
            <a:pathLst>
              <a:path h="4710100" w="3982176">
                <a:moveTo>
                  <a:pt x="0" y="0"/>
                </a:moveTo>
                <a:lnTo>
                  <a:pt x="3982176" y="0"/>
                </a:lnTo>
                <a:lnTo>
                  <a:pt x="3982176" y="4710100"/>
                </a:lnTo>
                <a:lnTo>
                  <a:pt x="0" y="4710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348536">
            <a:off x="14679102" y="-2142946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3484111" y="2787289"/>
                </a:moveTo>
                <a:lnTo>
                  <a:pt x="0" y="2787289"/>
                </a:lnTo>
                <a:lnTo>
                  <a:pt x="0" y="0"/>
                </a:lnTo>
                <a:lnTo>
                  <a:pt x="3484111" y="0"/>
                </a:lnTo>
                <a:lnTo>
                  <a:pt x="3484111" y="278728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44756" y="1551937"/>
            <a:ext cx="3030217" cy="2860043"/>
            <a:chOff x="0" y="0"/>
            <a:chExt cx="798082" cy="7532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8082" cy="753262"/>
            </a:xfrm>
            <a:custGeom>
              <a:avLst/>
              <a:gdLst/>
              <a:ahLst/>
              <a:cxnLst/>
              <a:rect r="r" b="b" t="t" l="l"/>
              <a:pathLst>
                <a:path h="753262" w="798082">
                  <a:moveTo>
                    <a:pt x="25549" y="0"/>
                  </a:moveTo>
                  <a:lnTo>
                    <a:pt x="772533" y="0"/>
                  </a:lnTo>
                  <a:cubicBezTo>
                    <a:pt x="786643" y="0"/>
                    <a:pt x="798082" y="11439"/>
                    <a:pt x="798082" y="25549"/>
                  </a:cubicBezTo>
                  <a:lnTo>
                    <a:pt x="798082" y="727713"/>
                  </a:lnTo>
                  <a:cubicBezTo>
                    <a:pt x="798082" y="741824"/>
                    <a:pt x="786643" y="753262"/>
                    <a:pt x="772533" y="753262"/>
                  </a:cubicBezTo>
                  <a:lnTo>
                    <a:pt x="25549" y="753262"/>
                  </a:lnTo>
                  <a:cubicBezTo>
                    <a:pt x="11439" y="753262"/>
                    <a:pt x="0" y="741824"/>
                    <a:pt x="0" y="727713"/>
                  </a:cubicBezTo>
                  <a:lnTo>
                    <a:pt x="0" y="25549"/>
                  </a:lnTo>
                  <a:cubicBezTo>
                    <a:pt x="0" y="11439"/>
                    <a:pt x="11439" y="0"/>
                    <a:pt x="25549" y="0"/>
                  </a:cubicBezTo>
                  <a:close/>
                </a:path>
              </a:pathLst>
            </a:custGeom>
            <a:solidFill>
              <a:srgbClr val="CC88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98082" cy="79136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r">
                <a:lnSpc>
                  <a:spcPts val="3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9152" y="1551937"/>
            <a:ext cx="3030217" cy="2860043"/>
            <a:chOff x="0" y="0"/>
            <a:chExt cx="798082" cy="7532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8082" cy="753262"/>
            </a:xfrm>
            <a:custGeom>
              <a:avLst/>
              <a:gdLst/>
              <a:ahLst/>
              <a:cxnLst/>
              <a:rect r="r" b="b" t="t" l="l"/>
              <a:pathLst>
                <a:path h="753262" w="798082">
                  <a:moveTo>
                    <a:pt x="25549" y="0"/>
                  </a:moveTo>
                  <a:lnTo>
                    <a:pt x="772533" y="0"/>
                  </a:lnTo>
                  <a:cubicBezTo>
                    <a:pt x="786643" y="0"/>
                    <a:pt x="798082" y="11439"/>
                    <a:pt x="798082" y="25549"/>
                  </a:cubicBezTo>
                  <a:lnTo>
                    <a:pt x="798082" y="727713"/>
                  </a:lnTo>
                  <a:cubicBezTo>
                    <a:pt x="798082" y="741824"/>
                    <a:pt x="786643" y="753262"/>
                    <a:pt x="772533" y="753262"/>
                  </a:cubicBezTo>
                  <a:lnTo>
                    <a:pt x="25549" y="753262"/>
                  </a:lnTo>
                  <a:cubicBezTo>
                    <a:pt x="11439" y="753262"/>
                    <a:pt x="0" y="741824"/>
                    <a:pt x="0" y="727713"/>
                  </a:cubicBezTo>
                  <a:lnTo>
                    <a:pt x="0" y="25549"/>
                  </a:lnTo>
                  <a:cubicBezTo>
                    <a:pt x="0" y="11439"/>
                    <a:pt x="11439" y="0"/>
                    <a:pt x="25549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98082" cy="79136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848" y="1656074"/>
            <a:ext cx="3017520" cy="1499616"/>
            <a:chOff x="0" y="0"/>
            <a:chExt cx="4023360" cy="19994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33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762" t="0" r="-1376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023360" cy="199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Sources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 données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848" y="3210554"/>
            <a:ext cx="3017520" cy="1005840"/>
            <a:chOff x="0" y="0"/>
            <a:chExt cx="402336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02336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CSV, XLS, TXT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09824" y="2868673"/>
            <a:ext cx="318011" cy="135131"/>
            <a:chOff x="0" y="0"/>
            <a:chExt cx="424015" cy="180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390144" cy="146304"/>
            </a:xfrm>
            <a:custGeom>
              <a:avLst/>
              <a:gdLst/>
              <a:ahLst/>
              <a:cxnLst/>
              <a:rect r="r" b="b" t="t" l="l"/>
              <a:pathLst>
                <a:path h="14630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B84B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3926" cy="180088"/>
            </a:xfrm>
            <a:custGeom>
              <a:avLst/>
              <a:gdLst/>
              <a:ahLst/>
              <a:cxnLst/>
              <a:rect r="r" b="b" t="t" l="l"/>
              <a:pathLst>
                <a:path h="180088" w="423926">
                  <a:moveTo>
                    <a:pt x="16891" y="0"/>
                  </a:moveTo>
                  <a:lnTo>
                    <a:pt x="407035" y="0"/>
                  </a:lnTo>
                  <a:cubicBezTo>
                    <a:pt x="416433" y="0"/>
                    <a:pt x="423926" y="7620"/>
                    <a:pt x="423926" y="16891"/>
                  </a:cubicBezTo>
                  <a:lnTo>
                    <a:pt x="423926" y="163195"/>
                  </a:lnTo>
                  <a:cubicBezTo>
                    <a:pt x="423926" y="172593"/>
                    <a:pt x="416306" y="180086"/>
                    <a:pt x="4070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7035" y="146304"/>
                  </a:lnTo>
                  <a:lnTo>
                    <a:pt x="407035" y="163195"/>
                  </a:lnTo>
                  <a:lnTo>
                    <a:pt x="390144" y="163195"/>
                  </a:lnTo>
                  <a:lnTo>
                    <a:pt x="390144" y="16891"/>
                  </a:lnTo>
                  <a:lnTo>
                    <a:pt x="407035" y="16891"/>
                  </a:lnTo>
                  <a:lnTo>
                    <a:pt x="4070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B84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178889" y="1551937"/>
            <a:ext cx="3030217" cy="2860043"/>
            <a:chOff x="0" y="0"/>
            <a:chExt cx="798082" cy="7532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8082" cy="753262"/>
            </a:xfrm>
            <a:custGeom>
              <a:avLst/>
              <a:gdLst/>
              <a:ahLst/>
              <a:cxnLst/>
              <a:rect r="r" b="b" t="t" l="l"/>
              <a:pathLst>
                <a:path h="753262" w="798082">
                  <a:moveTo>
                    <a:pt x="25549" y="0"/>
                  </a:moveTo>
                  <a:lnTo>
                    <a:pt x="772533" y="0"/>
                  </a:lnTo>
                  <a:cubicBezTo>
                    <a:pt x="786643" y="0"/>
                    <a:pt x="798082" y="11439"/>
                    <a:pt x="798082" y="25549"/>
                  </a:cubicBezTo>
                  <a:lnTo>
                    <a:pt x="798082" y="727713"/>
                  </a:lnTo>
                  <a:cubicBezTo>
                    <a:pt x="798082" y="741824"/>
                    <a:pt x="786643" y="753262"/>
                    <a:pt x="772533" y="753262"/>
                  </a:cubicBezTo>
                  <a:lnTo>
                    <a:pt x="25549" y="753262"/>
                  </a:lnTo>
                  <a:cubicBezTo>
                    <a:pt x="11439" y="753262"/>
                    <a:pt x="0" y="741824"/>
                    <a:pt x="0" y="727713"/>
                  </a:cubicBezTo>
                  <a:lnTo>
                    <a:pt x="0" y="25549"/>
                  </a:lnTo>
                  <a:cubicBezTo>
                    <a:pt x="0" y="11439"/>
                    <a:pt x="11439" y="0"/>
                    <a:pt x="25549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98082" cy="79136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r">
                <a:lnSpc>
                  <a:spcPts val="30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188280" y="1656074"/>
            <a:ext cx="3017520" cy="1499616"/>
            <a:chOff x="0" y="0"/>
            <a:chExt cx="4023360" cy="19994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762" t="0" r="-1376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023360" cy="199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Data Lake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(ADLS Gen2)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188280" y="3210554"/>
            <a:ext cx="3017520" cy="1005840"/>
            <a:chOff x="0" y="0"/>
            <a:chExt cx="4023360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02336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Stockage brut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266256" y="2868673"/>
            <a:ext cx="318011" cy="135131"/>
            <a:chOff x="0" y="0"/>
            <a:chExt cx="424015" cy="1801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390144" cy="146304"/>
            </a:xfrm>
            <a:custGeom>
              <a:avLst/>
              <a:gdLst/>
              <a:ahLst/>
              <a:cxnLst/>
              <a:rect r="r" b="b" t="t" l="l"/>
              <a:pathLst>
                <a:path h="14630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B84B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3926" cy="180088"/>
            </a:xfrm>
            <a:custGeom>
              <a:avLst/>
              <a:gdLst/>
              <a:ahLst/>
              <a:cxnLst/>
              <a:rect r="r" b="b" t="t" l="l"/>
              <a:pathLst>
                <a:path h="180088" w="423926">
                  <a:moveTo>
                    <a:pt x="16891" y="0"/>
                  </a:moveTo>
                  <a:lnTo>
                    <a:pt x="407035" y="0"/>
                  </a:lnTo>
                  <a:cubicBezTo>
                    <a:pt x="416433" y="0"/>
                    <a:pt x="423926" y="7620"/>
                    <a:pt x="423926" y="16891"/>
                  </a:cubicBezTo>
                  <a:lnTo>
                    <a:pt x="423926" y="163195"/>
                  </a:lnTo>
                  <a:cubicBezTo>
                    <a:pt x="423926" y="172593"/>
                    <a:pt x="416306" y="180086"/>
                    <a:pt x="4070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7035" y="146304"/>
                  </a:lnTo>
                  <a:lnTo>
                    <a:pt x="407035" y="163195"/>
                  </a:lnTo>
                  <a:lnTo>
                    <a:pt x="390144" y="163195"/>
                  </a:lnTo>
                  <a:lnTo>
                    <a:pt x="390144" y="16891"/>
                  </a:lnTo>
                  <a:lnTo>
                    <a:pt x="407035" y="16891"/>
                  </a:lnTo>
                  <a:lnTo>
                    <a:pt x="4070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B84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628892" y="1573782"/>
            <a:ext cx="3030217" cy="2860043"/>
            <a:chOff x="0" y="0"/>
            <a:chExt cx="798082" cy="7532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8082" cy="753262"/>
            </a:xfrm>
            <a:custGeom>
              <a:avLst/>
              <a:gdLst/>
              <a:ahLst/>
              <a:cxnLst/>
              <a:rect r="r" b="b" t="t" l="l"/>
              <a:pathLst>
                <a:path h="753262" w="798082">
                  <a:moveTo>
                    <a:pt x="25549" y="0"/>
                  </a:moveTo>
                  <a:lnTo>
                    <a:pt x="772533" y="0"/>
                  </a:lnTo>
                  <a:cubicBezTo>
                    <a:pt x="786643" y="0"/>
                    <a:pt x="798082" y="11439"/>
                    <a:pt x="798082" y="25549"/>
                  </a:cubicBezTo>
                  <a:lnTo>
                    <a:pt x="798082" y="727713"/>
                  </a:lnTo>
                  <a:cubicBezTo>
                    <a:pt x="798082" y="741824"/>
                    <a:pt x="786643" y="753262"/>
                    <a:pt x="772533" y="753262"/>
                  </a:cubicBezTo>
                  <a:lnTo>
                    <a:pt x="25549" y="753262"/>
                  </a:lnTo>
                  <a:cubicBezTo>
                    <a:pt x="11439" y="753262"/>
                    <a:pt x="0" y="741824"/>
                    <a:pt x="0" y="727713"/>
                  </a:cubicBezTo>
                  <a:lnTo>
                    <a:pt x="0" y="25549"/>
                  </a:lnTo>
                  <a:cubicBezTo>
                    <a:pt x="0" y="11439"/>
                    <a:pt x="11439" y="0"/>
                    <a:pt x="2554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98082" cy="79136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r">
                <a:lnSpc>
                  <a:spcPts val="308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644712" y="1656074"/>
            <a:ext cx="3017520" cy="1499616"/>
            <a:chOff x="0" y="0"/>
            <a:chExt cx="4023360" cy="19994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762" t="0" r="-1376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023360" cy="199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ODS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(Azure SQL)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644712" y="3210554"/>
            <a:ext cx="3017520" cy="1005840"/>
            <a:chOff x="0" y="0"/>
            <a:chExt cx="4023360" cy="1341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02336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Staging &amp; nettoyage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722688" y="2868673"/>
            <a:ext cx="318011" cy="135131"/>
            <a:chOff x="0" y="0"/>
            <a:chExt cx="424015" cy="1801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390144" cy="146304"/>
            </a:xfrm>
            <a:custGeom>
              <a:avLst/>
              <a:gdLst/>
              <a:ahLst/>
              <a:cxnLst/>
              <a:rect r="r" b="b" t="t" l="l"/>
              <a:pathLst>
                <a:path h="14630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B84B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3926" cy="180088"/>
            </a:xfrm>
            <a:custGeom>
              <a:avLst/>
              <a:gdLst/>
              <a:ahLst/>
              <a:cxnLst/>
              <a:rect r="r" b="b" t="t" l="l"/>
              <a:pathLst>
                <a:path h="180088" w="423926">
                  <a:moveTo>
                    <a:pt x="16891" y="0"/>
                  </a:moveTo>
                  <a:lnTo>
                    <a:pt x="407035" y="0"/>
                  </a:lnTo>
                  <a:cubicBezTo>
                    <a:pt x="416433" y="0"/>
                    <a:pt x="423926" y="7620"/>
                    <a:pt x="423926" y="16891"/>
                  </a:cubicBezTo>
                  <a:lnTo>
                    <a:pt x="423926" y="163195"/>
                  </a:lnTo>
                  <a:cubicBezTo>
                    <a:pt x="423926" y="172593"/>
                    <a:pt x="416306" y="180086"/>
                    <a:pt x="4070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7035" y="146304"/>
                  </a:lnTo>
                  <a:lnTo>
                    <a:pt x="407035" y="163195"/>
                  </a:lnTo>
                  <a:lnTo>
                    <a:pt x="390144" y="163195"/>
                  </a:lnTo>
                  <a:lnTo>
                    <a:pt x="390144" y="16891"/>
                  </a:lnTo>
                  <a:lnTo>
                    <a:pt x="407035" y="16891"/>
                  </a:lnTo>
                  <a:lnTo>
                    <a:pt x="4070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B84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088324" y="1573782"/>
            <a:ext cx="3030217" cy="2860043"/>
            <a:chOff x="0" y="0"/>
            <a:chExt cx="798082" cy="75326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8082" cy="753262"/>
            </a:xfrm>
            <a:custGeom>
              <a:avLst/>
              <a:gdLst/>
              <a:ahLst/>
              <a:cxnLst/>
              <a:rect r="r" b="b" t="t" l="l"/>
              <a:pathLst>
                <a:path h="753262" w="798082">
                  <a:moveTo>
                    <a:pt x="25549" y="0"/>
                  </a:moveTo>
                  <a:lnTo>
                    <a:pt x="772533" y="0"/>
                  </a:lnTo>
                  <a:cubicBezTo>
                    <a:pt x="786643" y="0"/>
                    <a:pt x="798082" y="11439"/>
                    <a:pt x="798082" y="25549"/>
                  </a:cubicBezTo>
                  <a:lnTo>
                    <a:pt x="798082" y="727713"/>
                  </a:lnTo>
                  <a:cubicBezTo>
                    <a:pt x="798082" y="741824"/>
                    <a:pt x="786643" y="753262"/>
                    <a:pt x="772533" y="753262"/>
                  </a:cubicBezTo>
                  <a:lnTo>
                    <a:pt x="25549" y="753262"/>
                  </a:lnTo>
                  <a:cubicBezTo>
                    <a:pt x="11439" y="753262"/>
                    <a:pt x="0" y="741824"/>
                    <a:pt x="0" y="727713"/>
                  </a:cubicBezTo>
                  <a:lnTo>
                    <a:pt x="0" y="25549"/>
                  </a:lnTo>
                  <a:cubicBezTo>
                    <a:pt x="0" y="11439"/>
                    <a:pt x="11439" y="0"/>
                    <a:pt x="25549" y="0"/>
                  </a:cubicBezTo>
                  <a:close/>
                </a:path>
              </a:pathLst>
            </a:custGeom>
            <a:solidFill>
              <a:srgbClr val="00607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98082" cy="79136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r">
                <a:lnSpc>
                  <a:spcPts val="308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101144" y="1656074"/>
            <a:ext cx="3017520" cy="1499616"/>
            <a:chOff x="0" y="0"/>
            <a:chExt cx="4023360" cy="19994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762" t="0" r="-1376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023360" cy="199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DWH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(Azure SQL)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101144" y="3210554"/>
            <a:ext cx="3017520" cy="1005840"/>
            <a:chOff x="0" y="0"/>
            <a:chExt cx="4023360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402336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 en étoile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179120" y="2868673"/>
            <a:ext cx="318011" cy="135131"/>
            <a:chOff x="0" y="0"/>
            <a:chExt cx="424015" cy="1801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390144" cy="146304"/>
            </a:xfrm>
            <a:custGeom>
              <a:avLst/>
              <a:gdLst/>
              <a:ahLst/>
              <a:cxnLst/>
              <a:rect r="r" b="b" t="t" l="l"/>
              <a:pathLst>
                <a:path h="14630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8B84B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3926" cy="180088"/>
            </a:xfrm>
            <a:custGeom>
              <a:avLst/>
              <a:gdLst/>
              <a:ahLst/>
              <a:cxnLst/>
              <a:rect r="r" b="b" t="t" l="l"/>
              <a:pathLst>
                <a:path h="180088" w="423926">
                  <a:moveTo>
                    <a:pt x="16891" y="0"/>
                  </a:moveTo>
                  <a:lnTo>
                    <a:pt x="407035" y="0"/>
                  </a:lnTo>
                  <a:cubicBezTo>
                    <a:pt x="416433" y="0"/>
                    <a:pt x="423926" y="7620"/>
                    <a:pt x="423926" y="16891"/>
                  </a:cubicBezTo>
                  <a:lnTo>
                    <a:pt x="423926" y="163195"/>
                  </a:lnTo>
                  <a:cubicBezTo>
                    <a:pt x="423926" y="172593"/>
                    <a:pt x="416306" y="180086"/>
                    <a:pt x="4070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7035" y="146304"/>
                  </a:lnTo>
                  <a:lnTo>
                    <a:pt x="407035" y="163195"/>
                  </a:lnTo>
                  <a:lnTo>
                    <a:pt x="390144" y="163195"/>
                  </a:lnTo>
                  <a:lnTo>
                    <a:pt x="390144" y="16891"/>
                  </a:lnTo>
                  <a:lnTo>
                    <a:pt x="407035" y="16891"/>
                  </a:lnTo>
                  <a:lnTo>
                    <a:pt x="4070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B84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557576" y="1656074"/>
            <a:ext cx="3017520" cy="1499616"/>
            <a:chOff x="0" y="0"/>
            <a:chExt cx="4023360" cy="19994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762" t="0" r="-1376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023360" cy="199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Power BI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557576" y="3210554"/>
            <a:ext cx="3017520" cy="1005840"/>
            <a:chOff x="0" y="0"/>
            <a:chExt cx="4023360" cy="1341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402336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Rapports &amp; Dashboards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273298" y="4963369"/>
            <a:ext cx="13741403" cy="720347"/>
            <a:chOff x="0" y="0"/>
            <a:chExt cx="18321871" cy="96046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8287999" cy="926592"/>
            </a:xfrm>
            <a:custGeom>
              <a:avLst/>
              <a:gdLst/>
              <a:ahLst/>
              <a:cxnLst/>
              <a:rect r="r" b="b" t="t" l="l"/>
              <a:pathLst>
                <a:path h="926592" w="18287999">
                  <a:moveTo>
                    <a:pt x="0" y="0"/>
                  </a:moveTo>
                  <a:lnTo>
                    <a:pt x="18287999" y="0"/>
                  </a:lnTo>
                  <a:lnTo>
                    <a:pt x="18287999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321782" cy="960376"/>
            </a:xfrm>
            <a:custGeom>
              <a:avLst/>
              <a:gdLst/>
              <a:ahLst/>
              <a:cxnLst/>
              <a:rect r="r" b="b" t="t" l="l"/>
              <a:pathLst>
                <a:path h="960376" w="18321782">
                  <a:moveTo>
                    <a:pt x="16891" y="0"/>
                  </a:moveTo>
                  <a:lnTo>
                    <a:pt x="18304890" y="0"/>
                  </a:lnTo>
                  <a:cubicBezTo>
                    <a:pt x="18314290" y="0"/>
                    <a:pt x="18321782" y="7620"/>
                    <a:pt x="18321782" y="16891"/>
                  </a:cubicBezTo>
                  <a:lnTo>
                    <a:pt x="18321782" y="943483"/>
                  </a:lnTo>
                  <a:cubicBezTo>
                    <a:pt x="18321782" y="952881"/>
                    <a:pt x="18314163" y="960374"/>
                    <a:pt x="18304890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8304890" y="926592"/>
                  </a:lnTo>
                  <a:lnTo>
                    <a:pt x="18304890" y="943483"/>
                  </a:lnTo>
                  <a:lnTo>
                    <a:pt x="18288000" y="943483"/>
                  </a:lnTo>
                  <a:lnTo>
                    <a:pt x="18288000" y="16891"/>
                  </a:lnTo>
                  <a:lnTo>
                    <a:pt x="18304890" y="16891"/>
                  </a:lnTo>
                  <a:lnTo>
                    <a:pt x="18304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E9E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285995" y="4976066"/>
            <a:ext cx="13728706" cy="694944"/>
            <a:chOff x="0" y="0"/>
            <a:chExt cx="18304942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304942" cy="926592"/>
            </a:xfrm>
            <a:custGeom>
              <a:avLst/>
              <a:gdLst/>
              <a:ahLst/>
              <a:cxnLst/>
              <a:rect r="r" b="b" t="t" l="l"/>
              <a:pathLst>
                <a:path h="926592" w="18304942">
                  <a:moveTo>
                    <a:pt x="0" y="0"/>
                  </a:moveTo>
                  <a:lnTo>
                    <a:pt x="18304942" y="0"/>
                  </a:lnTo>
                  <a:lnTo>
                    <a:pt x="1830494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34573" r="92" b="-33457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830494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0D1F3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Azure Data Factory (ADF) orchestre toutes les étapes via des pipelines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28296" y="6215377"/>
            <a:ext cx="5511803" cy="3042923"/>
            <a:chOff x="0" y="0"/>
            <a:chExt cx="7349071" cy="40572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48982" cy="4057142"/>
            </a:xfrm>
            <a:custGeom>
              <a:avLst/>
              <a:gdLst/>
              <a:ahLst/>
              <a:cxnLst/>
              <a:rect r="r" b="b" t="t" l="l"/>
              <a:pathLst>
                <a:path h="40571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040251"/>
                  </a:lnTo>
                  <a:cubicBezTo>
                    <a:pt x="7348982" y="4049649"/>
                    <a:pt x="7341362" y="4057142"/>
                    <a:pt x="733209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332091" y="4023360"/>
                  </a:lnTo>
                  <a:lnTo>
                    <a:pt x="7332091" y="4040251"/>
                  </a:lnTo>
                  <a:lnTo>
                    <a:pt x="7315200" y="4040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E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70176" y="6319514"/>
            <a:ext cx="4937760" cy="548640"/>
            <a:chOff x="0" y="0"/>
            <a:chExt cx="658368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Lake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70176" y="6959594"/>
            <a:ext cx="4937760" cy="2103120"/>
            <a:chOff x="0" y="0"/>
            <a:chExt cx="6583680" cy="28041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836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647" t="0" r="-4647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58368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Stockage de tous les fichiers sources bruts dans Azure Data Lake Storage Gen2. 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Aucune transformation à ce stade.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580456" y="6215377"/>
            <a:ext cx="5511803" cy="3042923"/>
            <a:chOff x="0" y="0"/>
            <a:chExt cx="7349071" cy="405723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48982" cy="4057142"/>
            </a:xfrm>
            <a:custGeom>
              <a:avLst/>
              <a:gdLst/>
              <a:ahLst/>
              <a:cxnLst/>
              <a:rect r="r" b="b" t="t" l="l"/>
              <a:pathLst>
                <a:path h="40571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040251"/>
                  </a:lnTo>
                  <a:cubicBezTo>
                    <a:pt x="7348982" y="4049649"/>
                    <a:pt x="7341362" y="4057142"/>
                    <a:pt x="733209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332091" y="4023360"/>
                  </a:lnTo>
                  <a:lnTo>
                    <a:pt x="7332091" y="4040251"/>
                  </a:lnTo>
                  <a:lnTo>
                    <a:pt x="7315200" y="4040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EF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922336" y="6319514"/>
            <a:ext cx="4937760" cy="548640"/>
            <a:chOff x="0" y="0"/>
            <a:chExt cx="658368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Operational Data Store (Staging)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922336" y="6959594"/>
            <a:ext cx="4937760" cy="2103120"/>
            <a:chOff x="0" y="0"/>
            <a:chExt cx="6583680" cy="28041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5836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647" t="0" r="-464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58368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Couche intermédiaire dans Azure SQL. 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Chargement brut depuis le Data Lake, premier nettoyage et validation des données avant le DWH.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432616" y="6215377"/>
            <a:ext cx="5511803" cy="3042923"/>
            <a:chOff x="0" y="0"/>
            <a:chExt cx="7349071" cy="405723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48982" cy="4057142"/>
            </a:xfrm>
            <a:custGeom>
              <a:avLst/>
              <a:gdLst/>
              <a:ahLst/>
              <a:cxnLst/>
              <a:rect r="r" b="b" t="t" l="l"/>
              <a:pathLst>
                <a:path h="40571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040251"/>
                  </a:lnTo>
                  <a:cubicBezTo>
                    <a:pt x="7348982" y="4049649"/>
                    <a:pt x="7341362" y="4057142"/>
                    <a:pt x="733209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7332091" y="4023360"/>
                  </a:lnTo>
                  <a:lnTo>
                    <a:pt x="7332091" y="4040251"/>
                  </a:lnTo>
                  <a:lnTo>
                    <a:pt x="7315200" y="4040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E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774496" y="6319514"/>
            <a:ext cx="4937760" cy="548640"/>
            <a:chOff x="0" y="0"/>
            <a:chExt cx="658368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Warehouse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774496" y="6959594"/>
            <a:ext cx="4937760" cy="2103120"/>
            <a:chOff x="0" y="0"/>
            <a:chExt cx="6583680" cy="28041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58368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647" t="0" r="-4647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658368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Warehouse structuré en schéma étoile.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Contient les tables de faits et dimensions optimisées pour les requêtes analytiques Power BI.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6580456" y="6215377"/>
            <a:ext cx="170431" cy="3042923"/>
            <a:chOff x="0" y="0"/>
            <a:chExt cx="44887" cy="80142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4887" cy="801428"/>
            </a:xfrm>
            <a:custGeom>
              <a:avLst/>
              <a:gdLst/>
              <a:ahLst/>
              <a:cxnLst/>
              <a:rect r="r" b="b" t="t" l="l"/>
              <a:pathLst>
                <a:path h="801428" w="44887">
                  <a:moveTo>
                    <a:pt x="0" y="0"/>
                  </a:moveTo>
                  <a:lnTo>
                    <a:pt x="44887" y="0"/>
                  </a:lnTo>
                  <a:lnTo>
                    <a:pt x="44887" y="801428"/>
                  </a:lnTo>
                  <a:lnTo>
                    <a:pt x="0" y="801428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44887" cy="801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570786" y="380364"/>
            <a:ext cx="12786150" cy="64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4900" spc="49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ARCHITECTURE AZURE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561418" y="6215377"/>
            <a:ext cx="170431" cy="3042923"/>
            <a:chOff x="0" y="0"/>
            <a:chExt cx="44887" cy="80142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4887" cy="801428"/>
            </a:xfrm>
            <a:custGeom>
              <a:avLst/>
              <a:gdLst/>
              <a:ahLst/>
              <a:cxnLst/>
              <a:rect r="r" b="b" t="t" l="l"/>
              <a:pathLst>
                <a:path h="801428" w="44887">
                  <a:moveTo>
                    <a:pt x="0" y="0"/>
                  </a:moveTo>
                  <a:lnTo>
                    <a:pt x="44887" y="0"/>
                  </a:lnTo>
                  <a:lnTo>
                    <a:pt x="44887" y="801428"/>
                  </a:lnTo>
                  <a:lnTo>
                    <a:pt x="0" y="801428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44887" cy="801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432616" y="6215377"/>
            <a:ext cx="170817" cy="3042923"/>
            <a:chOff x="0" y="0"/>
            <a:chExt cx="44989" cy="80142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4989" cy="801428"/>
            </a:xfrm>
            <a:custGeom>
              <a:avLst/>
              <a:gdLst/>
              <a:ahLst/>
              <a:cxnLst/>
              <a:rect r="r" b="b" t="t" l="l"/>
              <a:pathLst>
                <a:path h="801428" w="44989">
                  <a:moveTo>
                    <a:pt x="0" y="0"/>
                  </a:moveTo>
                  <a:lnTo>
                    <a:pt x="44989" y="0"/>
                  </a:lnTo>
                  <a:lnTo>
                    <a:pt x="44989" y="801428"/>
                  </a:lnTo>
                  <a:lnTo>
                    <a:pt x="0" y="801428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44989" cy="801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201469">
            <a:off x="-1165980" y="7429873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089119">
            <a:off x="991678" y="9138498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0" y="0"/>
                </a:moveTo>
                <a:lnTo>
                  <a:pt x="3484112" y="0"/>
                </a:lnTo>
                <a:lnTo>
                  <a:pt x="3484112" y="2787289"/>
                </a:lnTo>
                <a:lnTo>
                  <a:pt x="0" y="27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964417">
            <a:off x="16068115" y="-385311"/>
            <a:ext cx="3982176" cy="4710100"/>
          </a:xfrm>
          <a:custGeom>
            <a:avLst/>
            <a:gdLst/>
            <a:ahLst/>
            <a:cxnLst/>
            <a:rect r="r" b="b" t="t" l="l"/>
            <a:pathLst>
              <a:path h="4710100" w="3982176">
                <a:moveTo>
                  <a:pt x="0" y="0"/>
                </a:moveTo>
                <a:lnTo>
                  <a:pt x="3982176" y="0"/>
                </a:lnTo>
                <a:lnTo>
                  <a:pt x="3982176" y="4710100"/>
                </a:lnTo>
                <a:lnTo>
                  <a:pt x="0" y="4710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348536">
            <a:off x="14679102" y="-2142946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3484111" y="2787289"/>
                </a:moveTo>
                <a:lnTo>
                  <a:pt x="0" y="2787289"/>
                </a:lnTo>
                <a:lnTo>
                  <a:pt x="0" y="0"/>
                </a:lnTo>
                <a:lnTo>
                  <a:pt x="3484111" y="0"/>
                </a:lnTo>
                <a:lnTo>
                  <a:pt x="3484111" y="278728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424426" y="1808425"/>
            <a:ext cx="6426203" cy="7236927"/>
            <a:chOff x="0" y="0"/>
            <a:chExt cx="8568271" cy="96492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5143"/>
              <a:ext cx="8534400" cy="9618870"/>
            </a:xfrm>
            <a:custGeom>
              <a:avLst/>
              <a:gdLst/>
              <a:ahLst/>
              <a:cxnLst/>
              <a:rect r="r" b="b" t="t" l="l"/>
              <a:pathLst>
                <a:path h="961887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618871"/>
                  </a:lnTo>
                  <a:lnTo>
                    <a:pt x="0" y="961887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68182" cy="9649157"/>
            </a:xfrm>
            <a:custGeom>
              <a:avLst/>
              <a:gdLst/>
              <a:ahLst/>
              <a:cxnLst/>
              <a:rect r="r" b="b" t="t" l="l"/>
              <a:pathLst>
                <a:path h="9649157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6832"/>
                    <a:pt x="8568182" y="15143"/>
                  </a:cubicBezTo>
                  <a:lnTo>
                    <a:pt x="8568182" y="9634014"/>
                  </a:lnTo>
                  <a:cubicBezTo>
                    <a:pt x="8568182" y="9642439"/>
                    <a:pt x="8560562" y="9649157"/>
                    <a:pt x="8551291" y="9649157"/>
                  </a:cubicBezTo>
                  <a:lnTo>
                    <a:pt x="16891" y="9649157"/>
                  </a:lnTo>
                  <a:cubicBezTo>
                    <a:pt x="7493" y="9649157"/>
                    <a:pt x="0" y="9642325"/>
                    <a:pt x="0" y="9634014"/>
                  </a:cubicBezTo>
                  <a:lnTo>
                    <a:pt x="0" y="15143"/>
                  </a:lnTo>
                  <a:cubicBezTo>
                    <a:pt x="0" y="6832"/>
                    <a:pt x="7620" y="0"/>
                    <a:pt x="16891" y="0"/>
                  </a:cubicBezTo>
                  <a:moveTo>
                    <a:pt x="16891" y="30401"/>
                  </a:moveTo>
                  <a:lnTo>
                    <a:pt x="16891" y="15143"/>
                  </a:lnTo>
                  <a:lnTo>
                    <a:pt x="33909" y="15143"/>
                  </a:lnTo>
                  <a:lnTo>
                    <a:pt x="33909" y="9634014"/>
                  </a:lnTo>
                  <a:lnTo>
                    <a:pt x="16891" y="9634014"/>
                  </a:lnTo>
                  <a:lnTo>
                    <a:pt x="16891" y="9618870"/>
                  </a:lnTo>
                  <a:lnTo>
                    <a:pt x="8551291" y="9618870"/>
                  </a:lnTo>
                  <a:lnTo>
                    <a:pt x="8551291" y="9634014"/>
                  </a:lnTo>
                  <a:lnTo>
                    <a:pt x="8534400" y="9634014"/>
                  </a:lnTo>
                  <a:lnTo>
                    <a:pt x="8534400" y="15143"/>
                  </a:lnTo>
                  <a:lnTo>
                    <a:pt x="8551291" y="15143"/>
                  </a:lnTo>
                  <a:lnTo>
                    <a:pt x="8551291" y="30401"/>
                  </a:lnTo>
                  <a:lnTo>
                    <a:pt x="16891" y="30401"/>
                  </a:lnTo>
                  <a:close/>
                </a:path>
              </a:pathLst>
            </a:custGeom>
            <a:solidFill>
              <a:srgbClr val="E2EEF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24426" y="1808425"/>
            <a:ext cx="6426203" cy="711398"/>
            <a:chOff x="0" y="0"/>
            <a:chExt cx="8568271" cy="9485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5143"/>
              <a:ext cx="8534400" cy="918165"/>
            </a:xfrm>
            <a:custGeom>
              <a:avLst/>
              <a:gdLst/>
              <a:ahLst/>
              <a:cxnLst/>
              <a:rect r="r" b="b" t="t" l="l"/>
              <a:pathLst>
                <a:path h="9181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18165"/>
                  </a:lnTo>
                  <a:lnTo>
                    <a:pt x="0" y="918165"/>
                  </a:lnTo>
                  <a:close/>
                </a:path>
              </a:pathLst>
            </a:custGeom>
            <a:solidFill>
              <a:srgbClr val="E8B84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8182" cy="948453"/>
            </a:xfrm>
            <a:custGeom>
              <a:avLst/>
              <a:gdLst/>
              <a:ahLst/>
              <a:cxnLst/>
              <a:rect r="r" b="b" t="t" l="l"/>
              <a:pathLst>
                <a:path h="948453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6832"/>
                    <a:pt x="8568182" y="15143"/>
                  </a:cubicBezTo>
                  <a:lnTo>
                    <a:pt x="8568182" y="933308"/>
                  </a:lnTo>
                  <a:cubicBezTo>
                    <a:pt x="8568182" y="941734"/>
                    <a:pt x="8560562" y="948452"/>
                    <a:pt x="8551291" y="948452"/>
                  </a:cubicBezTo>
                  <a:lnTo>
                    <a:pt x="16891" y="948452"/>
                  </a:lnTo>
                  <a:cubicBezTo>
                    <a:pt x="7620" y="948569"/>
                    <a:pt x="0" y="941734"/>
                    <a:pt x="0" y="933308"/>
                  </a:cubicBezTo>
                  <a:lnTo>
                    <a:pt x="0" y="15143"/>
                  </a:lnTo>
                  <a:cubicBezTo>
                    <a:pt x="0" y="6832"/>
                    <a:pt x="7620" y="0"/>
                    <a:pt x="16891" y="0"/>
                  </a:cubicBezTo>
                  <a:moveTo>
                    <a:pt x="16891" y="30401"/>
                  </a:moveTo>
                  <a:lnTo>
                    <a:pt x="16891" y="15143"/>
                  </a:lnTo>
                  <a:lnTo>
                    <a:pt x="33909" y="15143"/>
                  </a:lnTo>
                  <a:lnTo>
                    <a:pt x="33909" y="933308"/>
                  </a:lnTo>
                  <a:lnTo>
                    <a:pt x="16891" y="933308"/>
                  </a:lnTo>
                  <a:lnTo>
                    <a:pt x="16891" y="918165"/>
                  </a:lnTo>
                  <a:lnTo>
                    <a:pt x="8551291" y="918165"/>
                  </a:lnTo>
                  <a:lnTo>
                    <a:pt x="8551291" y="933308"/>
                  </a:lnTo>
                  <a:lnTo>
                    <a:pt x="8534400" y="933308"/>
                  </a:lnTo>
                  <a:lnTo>
                    <a:pt x="8534400" y="15143"/>
                  </a:lnTo>
                  <a:lnTo>
                    <a:pt x="8551291" y="15143"/>
                  </a:lnTo>
                  <a:lnTo>
                    <a:pt x="8551291" y="30401"/>
                  </a:lnTo>
                  <a:lnTo>
                    <a:pt x="16891" y="30401"/>
                  </a:lnTo>
                  <a:close/>
                </a:path>
              </a:pathLst>
            </a:custGeom>
            <a:solidFill>
              <a:srgbClr val="E8B84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24426" y="1819809"/>
            <a:ext cx="6426203" cy="688624"/>
            <a:chOff x="0" y="0"/>
            <a:chExt cx="8568271" cy="9181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68271" cy="918165"/>
            </a:xfrm>
            <a:custGeom>
              <a:avLst/>
              <a:gdLst/>
              <a:ahLst/>
              <a:cxnLst/>
              <a:rect r="r" b="b" t="t" l="l"/>
              <a:pathLst>
                <a:path h="918165" w="8568271">
                  <a:moveTo>
                    <a:pt x="0" y="0"/>
                  </a:moveTo>
                  <a:lnTo>
                    <a:pt x="8568271" y="0"/>
                  </a:lnTo>
                  <a:lnTo>
                    <a:pt x="8568271" y="918165"/>
                  </a:lnTo>
                  <a:lnTo>
                    <a:pt x="0" y="91816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4994" r="6087" b="-12653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568271" cy="96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F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Pourquoi le schéma en étoile 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31948" y="2878482"/>
            <a:ext cx="6011161" cy="1306600"/>
            <a:chOff x="0" y="0"/>
            <a:chExt cx="8014881" cy="174213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16623" cy="642476"/>
              <a:chOff x="0" y="0"/>
              <a:chExt cx="716623" cy="64247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6891" y="15143"/>
                <a:ext cx="682752" cy="612110"/>
              </a:xfrm>
              <a:custGeom>
                <a:avLst/>
                <a:gdLst/>
                <a:ahLst/>
                <a:cxnLst/>
                <a:rect r="r" b="b" t="t" l="l"/>
                <a:pathLst>
                  <a:path h="612110" w="682752">
                    <a:moveTo>
                      <a:pt x="0" y="306055"/>
                    </a:moveTo>
                    <a:cubicBezTo>
                      <a:pt x="0" y="136974"/>
                      <a:pt x="152781" y="0"/>
                      <a:pt x="341376" y="0"/>
                    </a:cubicBezTo>
                    <a:cubicBezTo>
                      <a:pt x="529971" y="0"/>
                      <a:pt x="682752" y="137087"/>
                      <a:pt x="682752" y="306055"/>
                    </a:cubicBezTo>
                    <a:cubicBezTo>
                      <a:pt x="682752" y="475023"/>
                      <a:pt x="529971" y="612110"/>
                      <a:pt x="341376" y="612110"/>
                    </a:cubicBezTo>
                    <a:cubicBezTo>
                      <a:pt x="152781" y="612110"/>
                      <a:pt x="0" y="475137"/>
                      <a:pt x="0" y="306055"/>
                    </a:cubicBezTo>
                    <a:close/>
                  </a:path>
                </a:pathLst>
              </a:custGeom>
              <a:solidFill>
                <a:srgbClr val="0F6B75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16661" cy="642397"/>
              </a:xfrm>
              <a:custGeom>
                <a:avLst/>
                <a:gdLst/>
                <a:ahLst/>
                <a:cxnLst/>
                <a:rect r="r" b="b" t="t" l="l"/>
                <a:pathLst>
                  <a:path h="642397" w="716661">
                    <a:moveTo>
                      <a:pt x="0" y="321198"/>
                    </a:moveTo>
                    <a:cubicBezTo>
                      <a:pt x="0" y="143805"/>
                      <a:pt x="160401" y="0"/>
                      <a:pt x="358267" y="0"/>
                    </a:cubicBezTo>
                    <a:lnTo>
                      <a:pt x="358267" y="15143"/>
                    </a:lnTo>
                    <a:lnTo>
                      <a:pt x="358267" y="0"/>
                    </a:lnTo>
                    <a:cubicBezTo>
                      <a:pt x="556260" y="0"/>
                      <a:pt x="716661" y="143805"/>
                      <a:pt x="716661" y="321198"/>
                    </a:cubicBezTo>
                    <a:lnTo>
                      <a:pt x="699643" y="321198"/>
                    </a:lnTo>
                    <a:lnTo>
                      <a:pt x="716534" y="321198"/>
                    </a:lnTo>
                    <a:cubicBezTo>
                      <a:pt x="716534" y="498592"/>
                      <a:pt x="556133" y="642397"/>
                      <a:pt x="358267" y="642397"/>
                    </a:cubicBezTo>
                    <a:lnTo>
                      <a:pt x="358267" y="627253"/>
                    </a:lnTo>
                    <a:lnTo>
                      <a:pt x="358267" y="642397"/>
                    </a:lnTo>
                    <a:cubicBezTo>
                      <a:pt x="160401" y="642514"/>
                      <a:pt x="0" y="498706"/>
                      <a:pt x="0" y="321198"/>
                    </a:cubicBezTo>
                    <a:lnTo>
                      <a:pt x="16891" y="321198"/>
                    </a:lnTo>
                    <a:lnTo>
                      <a:pt x="33909" y="321198"/>
                    </a:lnTo>
                    <a:lnTo>
                      <a:pt x="16891" y="321198"/>
                    </a:lnTo>
                    <a:lnTo>
                      <a:pt x="0" y="321198"/>
                    </a:lnTo>
                    <a:moveTo>
                      <a:pt x="33909" y="321198"/>
                    </a:moveTo>
                    <a:cubicBezTo>
                      <a:pt x="33909" y="329624"/>
                      <a:pt x="26289" y="336342"/>
                      <a:pt x="17018" y="336342"/>
                    </a:cubicBezTo>
                    <a:cubicBezTo>
                      <a:pt x="7747" y="336342"/>
                      <a:pt x="0" y="329624"/>
                      <a:pt x="0" y="321198"/>
                    </a:cubicBezTo>
                    <a:cubicBezTo>
                      <a:pt x="0" y="312773"/>
                      <a:pt x="7620" y="306055"/>
                      <a:pt x="16891" y="306055"/>
                    </a:cubicBezTo>
                    <a:cubicBezTo>
                      <a:pt x="26162" y="306055"/>
                      <a:pt x="33782" y="312887"/>
                      <a:pt x="33782" y="321198"/>
                    </a:cubicBezTo>
                    <a:cubicBezTo>
                      <a:pt x="33782" y="481854"/>
                      <a:pt x="179070" y="612110"/>
                      <a:pt x="358267" y="612110"/>
                    </a:cubicBezTo>
                    <a:cubicBezTo>
                      <a:pt x="537464" y="612110"/>
                      <a:pt x="682752" y="481854"/>
                      <a:pt x="682752" y="321198"/>
                    </a:cubicBezTo>
                    <a:cubicBezTo>
                      <a:pt x="682752" y="160542"/>
                      <a:pt x="537464" y="30287"/>
                      <a:pt x="358267" y="30287"/>
                    </a:cubicBezTo>
                    <a:lnTo>
                      <a:pt x="358267" y="15143"/>
                    </a:lnTo>
                    <a:lnTo>
                      <a:pt x="358267" y="30401"/>
                    </a:lnTo>
                    <a:cubicBezTo>
                      <a:pt x="179070" y="30401"/>
                      <a:pt x="33909" y="160542"/>
                      <a:pt x="33909" y="321198"/>
                    </a:cubicBezTo>
                    <a:close/>
                  </a:path>
                </a:pathLst>
              </a:custGeom>
              <a:solidFill>
                <a:srgbClr val="0F6B75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6929" y="0"/>
              <a:ext cx="682752" cy="640358"/>
              <a:chOff x="0" y="0"/>
              <a:chExt cx="682752" cy="64035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82752" cy="640358"/>
              </a:xfrm>
              <a:custGeom>
                <a:avLst/>
                <a:gdLst/>
                <a:ahLst/>
                <a:cxnLst/>
                <a:rect r="r" b="b" t="t" l="l"/>
                <a:pathLst>
                  <a:path h="640358" w="682752">
                    <a:moveTo>
                      <a:pt x="0" y="0"/>
                    </a:moveTo>
                    <a:lnTo>
                      <a:pt x="682752" y="0"/>
                    </a:lnTo>
                    <a:lnTo>
                      <a:pt x="682752" y="640358"/>
                    </a:lnTo>
                    <a:lnTo>
                      <a:pt x="0" y="640358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-78303" t="0" r="-78303" b="-6620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82752" cy="6784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43521" y="0"/>
              <a:ext cx="7071360" cy="589111"/>
              <a:chOff x="0" y="0"/>
              <a:chExt cx="7071360" cy="58911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071360" cy="589111"/>
              </a:xfrm>
              <a:custGeom>
                <a:avLst/>
                <a:gdLst/>
                <a:ahLst/>
                <a:cxnLst/>
                <a:rect r="r" b="b" t="t" l="l"/>
                <a:pathLst>
                  <a:path h="589111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589111"/>
                    </a:lnTo>
                    <a:lnTo>
                      <a:pt x="0" y="589111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180078" r="0" b="-187696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7071360" cy="6367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0D1F3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Performance analytique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43521" y="474242"/>
              <a:ext cx="7071360" cy="1267891"/>
              <a:chOff x="0" y="0"/>
              <a:chExt cx="7071360" cy="126789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071360" cy="1267892"/>
              </a:xfrm>
              <a:custGeom>
                <a:avLst/>
                <a:gdLst/>
                <a:ahLst/>
                <a:cxnLst/>
                <a:rect r="r" b="b" t="t" l="l"/>
                <a:pathLst>
                  <a:path h="1267892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267892"/>
                    </a:lnTo>
                    <a:lnTo>
                      <a:pt x="0" y="1267892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65401" r="0" b="-51944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071360" cy="130599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79"/>
                  </a:lnSpc>
                </a:pPr>
                <a:r>
                  <a:rPr lang="en-US" sz="1899">
                    <a:solidFill>
                      <a:srgbClr val="64748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Structure des données optimisée pour limiter les jointures, ce qui permet des r</a:t>
                </a:r>
                <a:r>
                  <a:rPr lang="en-US" sz="1899">
                    <a:solidFill>
                      <a:srgbClr val="64748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equêtes plus rapides dans Power BI</a:t>
                </a: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1631948" y="5050272"/>
            <a:ext cx="6011161" cy="1191881"/>
            <a:chOff x="0" y="0"/>
            <a:chExt cx="8014881" cy="158917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16623" cy="642476"/>
              <a:chOff x="0" y="0"/>
              <a:chExt cx="716623" cy="64247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6891" y="15143"/>
                <a:ext cx="682752" cy="612110"/>
              </a:xfrm>
              <a:custGeom>
                <a:avLst/>
                <a:gdLst/>
                <a:ahLst/>
                <a:cxnLst/>
                <a:rect r="r" b="b" t="t" l="l"/>
                <a:pathLst>
                  <a:path h="612110" w="682752">
                    <a:moveTo>
                      <a:pt x="0" y="306055"/>
                    </a:moveTo>
                    <a:cubicBezTo>
                      <a:pt x="0" y="136974"/>
                      <a:pt x="152781" y="0"/>
                      <a:pt x="341376" y="0"/>
                    </a:cubicBezTo>
                    <a:cubicBezTo>
                      <a:pt x="529971" y="0"/>
                      <a:pt x="682752" y="137087"/>
                      <a:pt x="682752" y="306055"/>
                    </a:cubicBezTo>
                    <a:cubicBezTo>
                      <a:pt x="682752" y="475023"/>
                      <a:pt x="529971" y="612110"/>
                      <a:pt x="341376" y="612110"/>
                    </a:cubicBezTo>
                    <a:cubicBezTo>
                      <a:pt x="152781" y="612110"/>
                      <a:pt x="0" y="475137"/>
                      <a:pt x="0" y="306055"/>
                    </a:cubicBezTo>
                    <a:close/>
                  </a:path>
                </a:pathLst>
              </a:custGeom>
              <a:solidFill>
                <a:srgbClr val="0F6B75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16661" cy="642397"/>
              </a:xfrm>
              <a:custGeom>
                <a:avLst/>
                <a:gdLst/>
                <a:ahLst/>
                <a:cxnLst/>
                <a:rect r="r" b="b" t="t" l="l"/>
                <a:pathLst>
                  <a:path h="642397" w="716661">
                    <a:moveTo>
                      <a:pt x="0" y="321198"/>
                    </a:moveTo>
                    <a:cubicBezTo>
                      <a:pt x="0" y="143805"/>
                      <a:pt x="160401" y="0"/>
                      <a:pt x="358267" y="0"/>
                    </a:cubicBezTo>
                    <a:lnTo>
                      <a:pt x="358267" y="15143"/>
                    </a:lnTo>
                    <a:lnTo>
                      <a:pt x="358267" y="0"/>
                    </a:lnTo>
                    <a:cubicBezTo>
                      <a:pt x="556260" y="0"/>
                      <a:pt x="716661" y="143805"/>
                      <a:pt x="716661" y="321198"/>
                    </a:cubicBezTo>
                    <a:lnTo>
                      <a:pt x="699643" y="321198"/>
                    </a:lnTo>
                    <a:lnTo>
                      <a:pt x="716534" y="321198"/>
                    </a:lnTo>
                    <a:cubicBezTo>
                      <a:pt x="716534" y="498592"/>
                      <a:pt x="556133" y="642397"/>
                      <a:pt x="358267" y="642397"/>
                    </a:cubicBezTo>
                    <a:lnTo>
                      <a:pt x="358267" y="627253"/>
                    </a:lnTo>
                    <a:lnTo>
                      <a:pt x="358267" y="642397"/>
                    </a:lnTo>
                    <a:cubicBezTo>
                      <a:pt x="160401" y="642514"/>
                      <a:pt x="0" y="498706"/>
                      <a:pt x="0" y="321198"/>
                    </a:cubicBezTo>
                    <a:lnTo>
                      <a:pt x="16891" y="321198"/>
                    </a:lnTo>
                    <a:lnTo>
                      <a:pt x="33909" y="321198"/>
                    </a:lnTo>
                    <a:lnTo>
                      <a:pt x="16891" y="321198"/>
                    </a:lnTo>
                    <a:lnTo>
                      <a:pt x="0" y="321198"/>
                    </a:lnTo>
                    <a:moveTo>
                      <a:pt x="33909" y="321198"/>
                    </a:moveTo>
                    <a:cubicBezTo>
                      <a:pt x="33909" y="329624"/>
                      <a:pt x="26289" y="336342"/>
                      <a:pt x="17018" y="336342"/>
                    </a:cubicBezTo>
                    <a:cubicBezTo>
                      <a:pt x="7747" y="336342"/>
                      <a:pt x="0" y="329624"/>
                      <a:pt x="0" y="321198"/>
                    </a:cubicBezTo>
                    <a:cubicBezTo>
                      <a:pt x="0" y="312773"/>
                      <a:pt x="7620" y="306055"/>
                      <a:pt x="16891" y="306055"/>
                    </a:cubicBezTo>
                    <a:cubicBezTo>
                      <a:pt x="26162" y="306055"/>
                      <a:pt x="33782" y="312887"/>
                      <a:pt x="33782" y="321198"/>
                    </a:cubicBezTo>
                    <a:cubicBezTo>
                      <a:pt x="33782" y="481854"/>
                      <a:pt x="179070" y="612110"/>
                      <a:pt x="358267" y="612110"/>
                    </a:cubicBezTo>
                    <a:cubicBezTo>
                      <a:pt x="537464" y="612110"/>
                      <a:pt x="682752" y="481854"/>
                      <a:pt x="682752" y="321198"/>
                    </a:cubicBezTo>
                    <a:cubicBezTo>
                      <a:pt x="682752" y="160542"/>
                      <a:pt x="537464" y="30287"/>
                      <a:pt x="358267" y="30287"/>
                    </a:cubicBezTo>
                    <a:lnTo>
                      <a:pt x="358267" y="15143"/>
                    </a:lnTo>
                    <a:lnTo>
                      <a:pt x="358267" y="30401"/>
                    </a:lnTo>
                    <a:cubicBezTo>
                      <a:pt x="179070" y="30401"/>
                      <a:pt x="33909" y="160542"/>
                      <a:pt x="33909" y="321198"/>
                    </a:cubicBezTo>
                    <a:close/>
                  </a:path>
                </a:pathLst>
              </a:custGeom>
              <a:solidFill>
                <a:srgbClr val="0F6B75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6929" y="0"/>
              <a:ext cx="682752" cy="640358"/>
              <a:chOff x="0" y="0"/>
              <a:chExt cx="682752" cy="64035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82752" cy="640358"/>
              </a:xfrm>
              <a:custGeom>
                <a:avLst/>
                <a:gdLst/>
                <a:ahLst/>
                <a:cxnLst/>
                <a:rect r="r" b="b" t="t" l="l"/>
                <a:pathLst>
                  <a:path h="640358" w="682752">
                    <a:moveTo>
                      <a:pt x="0" y="0"/>
                    </a:moveTo>
                    <a:lnTo>
                      <a:pt x="682752" y="0"/>
                    </a:lnTo>
                    <a:lnTo>
                      <a:pt x="682752" y="640358"/>
                    </a:lnTo>
                    <a:lnTo>
                      <a:pt x="0" y="640358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-78303" t="0" r="-78303" b="-662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82752" cy="6784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943521" y="0"/>
              <a:ext cx="7071360" cy="589111"/>
              <a:chOff x="0" y="0"/>
              <a:chExt cx="7071360" cy="58911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071360" cy="589111"/>
              </a:xfrm>
              <a:custGeom>
                <a:avLst/>
                <a:gdLst/>
                <a:ahLst/>
                <a:cxnLst/>
                <a:rect r="r" b="b" t="t" l="l"/>
                <a:pathLst>
                  <a:path h="589111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589111"/>
                    </a:lnTo>
                    <a:lnTo>
                      <a:pt x="0" y="589111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180078" r="0" b="-187696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7071360" cy="6367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0D1F3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Lisibilité du modèle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43521" y="605426"/>
              <a:ext cx="7071360" cy="983748"/>
              <a:chOff x="0" y="0"/>
              <a:chExt cx="7071360" cy="98374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7071360" cy="983748"/>
              </a:xfrm>
              <a:custGeom>
                <a:avLst/>
                <a:gdLst/>
                <a:ahLst/>
                <a:cxnLst/>
                <a:rect r="r" b="b" t="t" l="l"/>
                <a:pathLst>
                  <a:path h="983748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983748"/>
                    </a:lnTo>
                    <a:lnTo>
                      <a:pt x="0" y="983748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84291" r="0" b="-95832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7071360" cy="10218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79"/>
                  </a:lnSpc>
                </a:pPr>
                <a:r>
                  <a:rPr lang="en-US" sz="1899">
                    <a:solidFill>
                      <a:srgbClr val="64748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Structure simple : 2 tables de faits, 5 dimensions clairement identifiables.</a:t>
                </a: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11607306" y="7107344"/>
            <a:ext cx="6011161" cy="1562784"/>
            <a:chOff x="0" y="0"/>
            <a:chExt cx="8014881" cy="208371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716623" cy="642476"/>
              <a:chOff x="0" y="0"/>
              <a:chExt cx="716623" cy="64247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5143"/>
                <a:ext cx="682752" cy="612110"/>
              </a:xfrm>
              <a:custGeom>
                <a:avLst/>
                <a:gdLst/>
                <a:ahLst/>
                <a:cxnLst/>
                <a:rect r="r" b="b" t="t" l="l"/>
                <a:pathLst>
                  <a:path h="612110" w="682752">
                    <a:moveTo>
                      <a:pt x="0" y="306055"/>
                    </a:moveTo>
                    <a:cubicBezTo>
                      <a:pt x="0" y="136974"/>
                      <a:pt x="152781" y="0"/>
                      <a:pt x="341376" y="0"/>
                    </a:cubicBezTo>
                    <a:cubicBezTo>
                      <a:pt x="529971" y="0"/>
                      <a:pt x="682752" y="137087"/>
                      <a:pt x="682752" y="306055"/>
                    </a:cubicBezTo>
                    <a:cubicBezTo>
                      <a:pt x="682752" y="475023"/>
                      <a:pt x="529971" y="612110"/>
                      <a:pt x="341376" y="612110"/>
                    </a:cubicBezTo>
                    <a:cubicBezTo>
                      <a:pt x="152781" y="612110"/>
                      <a:pt x="0" y="475137"/>
                      <a:pt x="0" y="306055"/>
                    </a:cubicBezTo>
                    <a:close/>
                  </a:path>
                </a:pathLst>
              </a:custGeom>
              <a:solidFill>
                <a:srgbClr val="E8B84B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16661" cy="642397"/>
              </a:xfrm>
              <a:custGeom>
                <a:avLst/>
                <a:gdLst/>
                <a:ahLst/>
                <a:cxnLst/>
                <a:rect r="r" b="b" t="t" l="l"/>
                <a:pathLst>
                  <a:path h="642397" w="716661">
                    <a:moveTo>
                      <a:pt x="0" y="321198"/>
                    </a:moveTo>
                    <a:cubicBezTo>
                      <a:pt x="0" y="143805"/>
                      <a:pt x="160401" y="0"/>
                      <a:pt x="358267" y="0"/>
                    </a:cubicBezTo>
                    <a:lnTo>
                      <a:pt x="358267" y="15143"/>
                    </a:lnTo>
                    <a:lnTo>
                      <a:pt x="358267" y="0"/>
                    </a:lnTo>
                    <a:cubicBezTo>
                      <a:pt x="556260" y="0"/>
                      <a:pt x="716661" y="143805"/>
                      <a:pt x="716661" y="321198"/>
                    </a:cubicBezTo>
                    <a:lnTo>
                      <a:pt x="699643" y="321198"/>
                    </a:lnTo>
                    <a:lnTo>
                      <a:pt x="716534" y="321198"/>
                    </a:lnTo>
                    <a:cubicBezTo>
                      <a:pt x="716534" y="498592"/>
                      <a:pt x="556133" y="642397"/>
                      <a:pt x="358267" y="642397"/>
                    </a:cubicBezTo>
                    <a:lnTo>
                      <a:pt x="358267" y="627253"/>
                    </a:lnTo>
                    <a:lnTo>
                      <a:pt x="358267" y="642397"/>
                    </a:lnTo>
                    <a:cubicBezTo>
                      <a:pt x="160401" y="642514"/>
                      <a:pt x="0" y="498706"/>
                      <a:pt x="0" y="321198"/>
                    </a:cubicBezTo>
                    <a:lnTo>
                      <a:pt x="16891" y="321198"/>
                    </a:lnTo>
                    <a:lnTo>
                      <a:pt x="33909" y="321198"/>
                    </a:lnTo>
                    <a:lnTo>
                      <a:pt x="16891" y="321198"/>
                    </a:lnTo>
                    <a:lnTo>
                      <a:pt x="0" y="321198"/>
                    </a:lnTo>
                    <a:moveTo>
                      <a:pt x="33909" y="321198"/>
                    </a:moveTo>
                    <a:cubicBezTo>
                      <a:pt x="33909" y="329624"/>
                      <a:pt x="26289" y="336342"/>
                      <a:pt x="17018" y="336342"/>
                    </a:cubicBezTo>
                    <a:cubicBezTo>
                      <a:pt x="7747" y="336342"/>
                      <a:pt x="0" y="329624"/>
                      <a:pt x="0" y="321198"/>
                    </a:cubicBezTo>
                    <a:cubicBezTo>
                      <a:pt x="0" y="312773"/>
                      <a:pt x="7620" y="306055"/>
                      <a:pt x="16891" y="306055"/>
                    </a:cubicBezTo>
                    <a:cubicBezTo>
                      <a:pt x="26162" y="306055"/>
                      <a:pt x="33782" y="312887"/>
                      <a:pt x="33782" y="321198"/>
                    </a:cubicBezTo>
                    <a:cubicBezTo>
                      <a:pt x="33782" y="481854"/>
                      <a:pt x="179070" y="612110"/>
                      <a:pt x="358267" y="612110"/>
                    </a:cubicBezTo>
                    <a:cubicBezTo>
                      <a:pt x="537464" y="612110"/>
                      <a:pt x="682752" y="481854"/>
                      <a:pt x="682752" y="321198"/>
                    </a:cubicBezTo>
                    <a:cubicBezTo>
                      <a:pt x="682752" y="160542"/>
                      <a:pt x="537464" y="30287"/>
                      <a:pt x="358267" y="30287"/>
                    </a:cubicBezTo>
                    <a:lnTo>
                      <a:pt x="358267" y="15143"/>
                    </a:lnTo>
                    <a:lnTo>
                      <a:pt x="358267" y="30401"/>
                    </a:lnTo>
                    <a:cubicBezTo>
                      <a:pt x="179070" y="30401"/>
                      <a:pt x="33909" y="160542"/>
                      <a:pt x="33909" y="321198"/>
                    </a:cubicBezTo>
                    <a:close/>
                  </a:path>
                </a:pathLst>
              </a:custGeom>
              <a:solidFill>
                <a:srgbClr val="E8B84B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16929" y="0"/>
              <a:ext cx="682752" cy="640358"/>
              <a:chOff x="0" y="0"/>
              <a:chExt cx="682752" cy="640358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682752" cy="640358"/>
              </a:xfrm>
              <a:custGeom>
                <a:avLst/>
                <a:gdLst/>
                <a:ahLst/>
                <a:cxnLst/>
                <a:rect r="r" b="b" t="t" l="l"/>
                <a:pathLst>
                  <a:path h="640358" w="682752">
                    <a:moveTo>
                      <a:pt x="0" y="0"/>
                    </a:moveTo>
                    <a:lnTo>
                      <a:pt x="682752" y="0"/>
                    </a:lnTo>
                    <a:lnTo>
                      <a:pt x="682752" y="640358"/>
                    </a:lnTo>
                    <a:lnTo>
                      <a:pt x="0" y="640358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-78303" t="0" r="-78303" b="-6620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682752" cy="67845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✗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943521" y="0"/>
              <a:ext cx="7071360" cy="589111"/>
              <a:chOff x="0" y="0"/>
              <a:chExt cx="7071360" cy="589111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071360" cy="589111"/>
              </a:xfrm>
              <a:custGeom>
                <a:avLst/>
                <a:gdLst/>
                <a:ahLst/>
                <a:cxnLst/>
                <a:rect r="r" b="b" t="t" l="l"/>
                <a:pathLst>
                  <a:path h="589111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589111"/>
                    </a:lnTo>
                    <a:lnTo>
                      <a:pt x="0" y="589111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180078" r="0" b="-187696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7071360" cy="6367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0D1F3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Pas de schéma en flocon (Snowflake Schema)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943521" y="434821"/>
              <a:ext cx="7071360" cy="1648891"/>
              <a:chOff x="0" y="0"/>
              <a:chExt cx="7071360" cy="164889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7071360" cy="1648891"/>
              </a:xfrm>
              <a:custGeom>
                <a:avLst/>
                <a:gdLst/>
                <a:ahLst/>
                <a:cxnLst/>
                <a:rect r="r" b="b" t="t" l="l"/>
                <a:pathLst>
                  <a:path h="1648891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648891"/>
                    </a:lnTo>
                    <a:lnTo>
                      <a:pt x="0" y="1648891"/>
                    </a:lnTo>
                    <a:close/>
                  </a:path>
                </a:pathLst>
              </a:custGeom>
              <a:blipFill>
                <a:blip r:embed="rId10">
                  <a:alphaModFix amt="0"/>
                </a:blip>
                <a:stretch>
                  <a:fillRect l="0" t="-50289" r="0" b="-16835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7071360" cy="168699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79"/>
                  </a:lnSpc>
                </a:pPr>
                <a:r>
                  <a:rPr lang="en-US" sz="1899">
                    <a:solidFill>
                      <a:srgbClr val="64748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Les tables sont déjà simples et peu volumineuses, donc ajouter des tables supplémentaires compliquerait le modèle sans apporter de réel bénéfice.</a:t>
                </a: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437370" y="1821122"/>
            <a:ext cx="10546322" cy="7224231"/>
          </a:xfrm>
          <a:custGeom>
            <a:avLst/>
            <a:gdLst/>
            <a:ahLst/>
            <a:cxnLst/>
            <a:rect r="r" b="b" t="t" l="l"/>
            <a:pathLst>
              <a:path h="7224231" w="10546322">
                <a:moveTo>
                  <a:pt x="0" y="0"/>
                </a:moveTo>
                <a:lnTo>
                  <a:pt x="10546323" y="0"/>
                </a:lnTo>
                <a:lnTo>
                  <a:pt x="10546323" y="7224231"/>
                </a:lnTo>
                <a:lnTo>
                  <a:pt x="0" y="72242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570786" y="380364"/>
            <a:ext cx="12786150" cy="64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4900" spc="49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MODÉLISATION - SCHÉMA EN ÉTOILE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96961">
            <a:off x="-1406027" y="6806086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59" y="0"/>
                </a:lnTo>
                <a:lnTo>
                  <a:pt x="4389359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01367">
            <a:off x="557077" y="8324231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0"/>
                </a:lnTo>
                <a:lnTo>
                  <a:pt x="0" y="4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23381">
            <a:off x="15488782" y="-65147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2654" y="198359"/>
            <a:ext cx="3152506" cy="1318321"/>
          </a:xfrm>
          <a:custGeom>
            <a:avLst/>
            <a:gdLst/>
            <a:ahLst/>
            <a:cxnLst/>
            <a:rect r="r" b="b" t="t" l="l"/>
            <a:pathLst>
              <a:path h="1318321" w="3152506">
                <a:moveTo>
                  <a:pt x="0" y="0"/>
                </a:moveTo>
                <a:lnTo>
                  <a:pt x="3152506" y="0"/>
                </a:lnTo>
                <a:lnTo>
                  <a:pt x="3152506" y="1318321"/>
                </a:lnTo>
                <a:lnTo>
                  <a:pt x="0" y="1318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95011">
            <a:off x="13614410" y="-1236110"/>
            <a:ext cx="2725288" cy="3620552"/>
          </a:xfrm>
          <a:custGeom>
            <a:avLst/>
            <a:gdLst/>
            <a:ahLst/>
            <a:cxnLst/>
            <a:rect r="r" b="b" t="t" l="l"/>
            <a:pathLst>
              <a:path h="3620552" w="2725288">
                <a:moveTo>
                  <a:pt x="0" y="0"/>
                </a:moveTo>
                <a:lnTo>
                  <a:pt x="2725289" y="0"/>
                </a:lnTo>
                <a:lnTo>
                  <a:pt x="2725289" y="3620552"/>
                </a:lnTo>
                <a:lnTo>
                  <a:pt x="0" y="36205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56937" y="1621455"/>
            <a:ext cx="3452979" cy="8138294"/>
          </a:xfrm>
          <a:custGeom>
            <a:avLst/>
            <a:gdLst/>
            <a:ahLst/>
            <a:cxnLst/>
            <a:rect r="r" b="b" t="t" l="l"/>
            <a:pathLst>
              <a:path h="8138294" w="3452979">
                <a:moveTo>
                  <a:pt x="0" y="0"/>
                </a:moveTo>
                <a:lnTo>
                  <a:pt x="3452979" y="0"/>
                </a:lnTo>
                <a:lnTo>
                  <a:pt x="3452979" y="8138294"/>
                </a:lnTo>
                <a:lnTo>
                  <a:pt x="0" y="81382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19050" cap="sq">
            <a:solidFill>
              <a:srgbClr val="0097B2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70786" y="1621455"/>
            <a:ext cx="3673713" cy="8138294"/>
          </a:xfrm>
          <a:custGeom>
            <a:avLst/>
            <a:gdLst/>
            <a:ahLst/>
            <a:cxnLst/>
            <a:rect r="r" b="b" t="t" l="l"/>
            <a:pathLst>
              <a:path h="8138294" w="3673713">
                <a:moveTo>
                  <a:pt x="0" y="0"/>
                </a:moveTo>
                <a:lnTo>
                  <a:pt x="3673713" y="0"/>
                </a:lnTo>
                <a:lnTo>
                  <a:pt x="3673713" y="8138294"/>
                </a:lnTo>
                <a:lnTo>
                  <a:pt x="0" y="81382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19050" cap="sq">
            <a:solidFill>
              <a:srgbClr val="0097B2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184804" y="1621455"/>
            <a:ext cx="5231827" cy="5194983"/>
          </a:xfrm>
          <a:custGeom>
            <a:avLst/>
            <a:gdLst/>
            <a:ahLst/>
            <a:cxnLst/>
            <a:rect r="r" b="b" t="t" l="l"/>
            <a:pathLst>
              <a:path h="5194983" w="5231827">
                <a:moveTo>
                  <a:pt x="0" y="0"/>
                </a:moveTo>
                <a:lnTo>
                  <a:pt x="5231827" y="0"/>
                </a:lnTo>
                <a:lnTo>
                  <a:pt x="5231827" y="5194984"/>
                </a:lnTo>
                <a:lnTo>
                  <a:pt x="0" y="51949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19050" cap="sq">
            <a:solidFill>
              <a:srgbClr val="0097B2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4358464" y="7430337"/>
            <a:ext cx="1119426" cy="634342"/>
          </a:xfrm>
          <a:custGeom>
            <a:avLst/>
            <a:gdLst/>
            <a:ahLst/>
            <a:cxnLst/>
            <a:rect r="r" b="b" t="t" l="l"/>
            <a:pathLst>
              <a:path h="634342" w="1119426">
                <a:moveTo>
                  <a:pt x="1119427" y="0"/>
                </a:moveTo>
                <a:lnTo>
                  <a:pt x="0" y="0"/>
                </a:lnTo>
                <a:lnTo>
                  <a:pt x="0" y="634341"/>
                </a:lnTo>
                <a:lnTo>
                  <a:pt x="1119427" y="634341"/>
                </a:lnTo>
                <a:lnTo>
                  <a:pt x="1119427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0786" y="380364"/>
            <a:ext cx="12786150" cy="64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4900" spc="49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AZURE DATA FACTORY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806439" y="8165033"/>
            <a:ext cx="3220384" cy="1346706"/>
          </a:xfrm>
          <a:custGeom>
            <a:avLst/>
            <a:gdLst/>
            <a:ahLst/>
            <a:cxnLst/>
            <a:rect r="r" b="b" t="t" l="l"/>
            <a:pathLst>
              <a:path h="1346706" w="3220384">
                <a:moveTo>
                  <a:pt x="0" y="0"/>
                </a:moveTo>
                <a:lnTo>
                  <a:pt x="3220384" y="0"/>
                </a:lnTo>
                <a:lnTo>
                  <a:pt x="3220384" y="1346706"/>
                </a:lnTo>
                <a:lnTo>
                  <a:pt x="0" y="13467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91044" y="7430337"/>
            <a:ext cx="1119426" cy="634342"/>
          </a:xfrm>
          <a:custGeom>
            <a:avLst/>
            <a:gdLst/>
            <a:ahLst/>
            <a:cxnLst/>
            <a:rect r="r" b="b" t="t" l="l"/>
            <a:pathLst>
              <a:path h="634342" w="1119426">
                <a:moveTo>
                  <a:pt x="0" y="0"/>
                </a:moveTo>
                <a:lnTo>
                  <a:pt x="1119426" y="0"/>
                </a:lnTo>
                <a:lnTo>
                  <a:pt x="1119426" y="634341"/>
                </a:lnTo>
                <a:lnTo>
                  <a:pt x="0" y="6343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5400000">
            <a:off x="8392487" y="440902"/>
            <a:ext cx="1119426" cy="634342"/>
          </a:xfrm>
          <a:custGeom>
            <a:avLst/>
            <a:gdLst/>
            <a:ahLst/>
            <a:cxnLst/>
            <a:rect r="r" b="b" t="t" l="l"/>
            <a:pathLst>
              <a:path h="634342" w="1119426">
                <a:moveTo>
                  <a:pt x="1119427" y="0"/>
                </a:moveTo>
                <a:lnTo>
                  <a:pt x="0" y="0"/>
                </a:lnTo>
                <a:lnTo>
                  <a:pt x="0" y="634341"/>
                </a:lnTo>
                <a:lnTo>
                  <a:pt x="1119427" y="634341"/>
                </a:lnTo>
                <a:lnTo>
                  <a:pt x="1119427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34682" y="8105490"/>
            <a:ext cx="3955837" cy="1654259"/>
          </a:xfrm>
          <a:custGeom>
            <a:avLst/>
            <a:gdLst/>
            <a:ahLst/>
            <a:cxnLst/>
            <a:rect r="r" b="b" t="t" l="l"/>
            <a:pathLst>
              <a:path h="1654259" w="3955837">
                <a:moveTo>
                  <a:pt x="0" y="0"/>
                </a:moveTo>
                <a:lnTo>
                  <a:pt x="3955836" y="0"/>
                </a:lnTo>
                <a:lnTo>
                  <a:pt x="3955836" y="1654259"/>
                </a:lnTo>
                <a:lnTo>
                  <a:pt x="0" y="16542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44782" y="8296350"/>
            <a:ext cx="3735636" cy="121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Chaque dataset pointe vers une source précise (fichier dans le Data Lake ou table dans Azure SQL) et indique le format attendu (CSV, Excel, table SQL…).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2654" y="227964"/>
            <a:ext cx="3152506" cy="121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C'est ici que les données sont nettoyées, filtrées, enrichies et mises en forme avant d'être chargées dans le DWH.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06439" y="8354517"/>
            <a:ext cx="3204031" cy="91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Les pipelines orchestrent l'ensemble du flux de données dans un ordre défini et contrôlé.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DAHGEYuIqf4</dc:identifier>
  <dcterms:modified xsi:type="dcterms:W3CDTF">2011-08-01T06:04:30Z</dcterms:modified>
  <cp:revision>1</cp:revision>
  <dc:title>Azure &amp; Power BI</dc:title>
</cp:coreProperties>
</file>